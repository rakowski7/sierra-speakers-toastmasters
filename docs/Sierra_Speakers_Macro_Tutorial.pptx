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6" r:id="rId5"/>
    <p:sldId id="259" r:id="rId6"/>
    <p:sldId id="260" r:id="rId7"/>
    <p:sldId id="261" r:id="rId8"/>
    <p:sldId id="262" r:id="rId9"/>
    <p:sldId id="263" r:id="rId10"/>
    <p:sldId id="277" r:id="rId11"/>
    <p:sldId id="264" r:id="rId12"/>
    <p:sldId id="265" r:id="rId13"/>
    <p:sldId id="266" r:id="rId14"/>
    <p:sldId id="267" r:id="rId15"/>
    <p:sldId id="268" r:id="rId16"/>
    <p:sldId id="269" r:id="rId17"/>
    <p:sldId id="270" r:id="rId18"/>
    <p:sldId id="271" r:id="rId19"/>
    <p:sldId id="279" r:id="rId20"/>
    <p:sldId id="278" r:id="rId21"/>
    <p:sldId id="272" r:id="rId22"/>
    <p:sldId id="280" r:id="rId23"/>
    <p:sldId id="273" r:id="rId24"/>
    <p:sldId id="281" r:id="rId25"/>
    <p:sldId id="274" r:id="rId26"/>
    <p:sldId id="275"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7" d="100"/>
          <a:sy n="97" d="100"/>
        </p:scale>
        <p:origin x="1074" y="3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eusz Rakowski" userId="76b02b9a8f957a29" providerId="LiveId" clId="{479A6A8D-1114-41E7-857F-B0E7FD8D9671}"/>
    <pc:docChg chg="undo custSel modSld">
      <pc:chgData name="Mateusz Rakowski" userId="76b02b9a8f957a29" providerId="LiveId" clId="{479A6A8D-1114-41E7-857F-B0E7FD8D9671}" dt="2026-04-17T01:34:23.900" v="8" actId="1076"/>
      <pc:docMkLst>
        <pc:docMk/>
      </pc:docMkLst>
      <pc:sldChg chg="modSp mod">
        <pc:chgData name="Mateusz Rakowski" userId="76b02b9a8f957a29" providerId="LiveId" clId="{479A6A8D-1114-41E7-857F-B0E7FD8D9671}" dt="2026-04-17T01:34:23.900" v="8" actId="1076"/>
        <pc:sldMkLst>
          <pc:docMk/>
          <pc:sldMk cId="0" sldId="279"/>
        </pc:sldMkLst>
        <pc:spChg chg="mod ord">
          <ac:chgData name="Mateusz Rakowski" userId="76b02b9a8f957a29" providerId="LiveId" clId="{479A6A8D-1114-41E7-857F-B0E7FD8D9671}" dt="2026-04-17T01:34:23.900" v="8" actId="1076"/>
          <ac:spMkLst>
            <pc:docMk/>
            <pc:sldMk cId="0" sldId="279"/>
            <ac:spMk id="6" creationId="{00000000-0000-0000-0000-000000000000}"/>
          </ac:spMkLst>
        </pc:spChg>
        <pc:picChg chg="mod ord">
          <ac:chgData name="Mateusz Rakowski" userId="76b02b9a8f957a29" providerId="LiveId" clId="{479A6A8D-1114-41E7-857F-B0E7FD8D9671}" dt="2026-04-17T01:34:12.694" v="6" actId="14100"/>
          <ac:picMkLst>
            <pc:docMk/>
            <pc:sldMk cId="0" sldId="279"/>
            <ac:picMk id="7"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14400" y="2377440"/>
            <a:ext cx="2286000" cy="54864"/>
          </a:xfrm>
          <a:prstGeom prst="rect">
            <a:avLst/>
          </a:prstGeom>
          <a:solidFill>
            <a:srgbClr val="93C4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560320"/>
            <a:ext cx="5943600" cy="1828800"/>
          </a:xfrm>
          <a:prstGeom prst="rect">
            <a:avLst/>
          </a:prstGeom>
          <a:noFill/>
        </p:spPr>
        <p:txBody>
          <a:bodyPr wrap="square" lIns="0" tIns="0" rIns="0" bIns="0"/>
          <a:lstStyle/>
          <a:p>
            <a:pPr algn="l">
              <a:lnSpc>
                <a:spcPts val="5000"/>
              </a:lnSpc>
              <a:spcBef>
                <a:spcPts val="0"/>
              </a:spcBef>
              <a:spcAft>
                <a:spcPts val="0"/>
              </a:spcAft>
            </a:pPr>
            <a:r>
              <a:rPr sz="4000" b="1">
                <a:solidFill>
                  <a:srgbClr val="FFFFFF"/>
                </a:solidFill>
                <a:latin typeface="Georgia"/>
              </a:rPr>
              <a:t>Sierra Speakers Toastmasters
Meeting Tools</a:t>
            </a:r>
          </a:p>
        </p:txBody>
      </p:sp>
      <p:sp>
        <p:nvSpPr>
          <p:cNvPr id="5" name="TextBox 4"/>
          <p:cNvSpPr txBox="1"/>
          <p:nvPr/>
        </p:nvSpPr>
        <p:spPr>
          <a:xfrm>
            <a:off x="914400" y="4572000"/>
            <a:ext cx="5943600" cy="457200"/>
          </a:xfrm>
          <a:prstGeom prst="rect">
            <a:avLst/>
          </a:prstGeom>
          <a:noFill/>
        </p:spPr>
        <p:txBody>
          <a:bodyPr wrap="square" lIns="0" tIns="0" rIns="0" bIns="0"/>
          <a:lstStyle/>
          <a:p>
            <a:pPr algn="l">
              <a:spcBef>
                <a:spcPts val="0"/>
              </a:spcBef>
              <a:spcAft>
                <a:spcPts val="0"/>
              </a:spcAft>
            </a:pPr>
            <a:r>
              <a:rPr sz="2000" b="0">
                <a:solidFill>
                  <a:srgbClr val="B8D4A8"/>
                </a:solidFill>
                <a:latin typeface="Calibri"/>
              </a:rPr>
              <a:t>A Step-by-Step Guide</a:t>
            </a:r>
          </a:p>
        </p:txBody>
      </p:sp>
      <p:sp>
        <p:nvSpPr>
          <p:cNvPr id="6" name="Rectangle 5"/>
          <p:cNvSpPr/>
          <p:nvPr/>
        </p:nvSpPr>
        <p:spPr>
          <a:xfrm>
            <a:off x="9601200" y="5943600"/>
            <a:ext cx="1828800" cy="54864"/>
          </a:xfrm>
          <a:prstGeom prst="rect">
            <a:avLst/>
          </a:prstGeom>
          <a:solidFill>
            <a:srgbClr val="B8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0" y="6400800"/>
            <a:ext cx="1371600" cy="365760"/>
          </a:xfrm>
          <a:prstGeom prst="rect">
            <a:avLst/>
          </a:prstGeom>
          <a:noFill/>
        </p:spPr>
        <p:txBody>
          <a:bodyPr wrap="square" lIns="0" tIns="0" rIns="0" bIns="0"/>
          <a:lstStyle/>
          <a:p>
            <a:pPr algn="r">
              <a:spcBef>
                <a:spcPts val="0"/>
              </a:spcBef>
              <a:spcAft>
                <a:spcPts val="0"/>
              </a:spcAft>
            </a:pPr>
            <a:r>
              <a:rPr sz="1000" b="0">
                <a:solidFill>
                  <a:srgbClr val="5A7BA8"/>
                </a:solidFill>
                <a:latin typeface="Calibri"/>
              </a:rPr>
              <a:t>1 / 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57200"/>
            <a:ext cx="7315200" cy="640080"/>
          </a:xfrm>
          <a:prstGeom prst="rect">
            <a:avLst/>
          </a:prstGeom>
          <a:noFill/>
        </p:spPr>
        <p:txBody>
          <a:bodyPr wrap="square" lIns="0" tIns="0" rIns="0" bIns="0"/>
          <a:lstStyle/>
          <a:p>
            <a:pPr algn="l">
              <a:spcBef>
                <a:spcPts val="0"/>
              </a:spcBef>
              <a:spcAft>
                <a:spcPts val="0"/>
              </a:spcAft>
            </a:pPr>
            <a:r>
              <a:rPr sz="3600" b="1">
                <a:solidFill>
                  <a:srgbClr val="2C5294"/>
                </a:solidFill>
                <a:latin typeface="Georgia"/>
              </a:rPr>
              <a:t>What These Tools Do</a:t>
            </a:r>
          </a:p>
        </p:txBody>
      </p:sp>
      <p:sp>
        <p:nvSpPr>
          <p:cNvPr id="5" name="TextBox 4"/>
          <p:cNvSpPr txBox="1"/>
          <p:nvPr/>
        </p:nvSpPr>
        <p:spPr>
          <a:xfrm>
            <a:off x="640080" y="1188720"/>
            <a:ext cx="9144000" cy="457200"/>
          </a:xfrm>
          <a:prstGeom prst="rect">
            <a:avLst/>
          </a:prstGeom>
          <a:noFill/>
        </p:spPr>
        <p:txBody>
          <a:bodyPr wrap="square" lIns="0" tIns="0" rIns="0" bIns="0"/>
          <a:lstStyle/>
          <a:p>
            <a:pPr algn="l">
              <a:spcBef>
                <a:spcPts val="0"/>
              </a:spcBef>
              <a:spcAft>
                <a:spcPts val="0"/>
              </a:spcAft>
            </a:pPr>
            <a:r>
              <a:rPr sz="1600" b="0">
                <a:solidFill>
                  <a:srgbClr val="5A7BA8"/>
                </a:solidFill>
                <a:latin typeface="Calibri"/>
              </a:rPr>
              <a:t>Three macros built into your schedule spreadsheet that handle meeting prep.</a:t>
            </a:r>
          </a:p>
        </p:txBody>
      </p:sp>
      <p:sp>
        <p:nvSpPr>
          <p:cNvPr id="6" name="Rectangle 5"/>
          <p:cNvSpPr/>
          <p:nvPr/>
        </p:nvSpPr>
        <p:spPr>
          <a:xfrm>
            <a:off x="640080" y="2011680"/>
            <a:ext cx="3291840" cy="3200400"/>
          </a:xfrm>
          <a:prstGeom prst="rect">
            <a:avLst/>
          </a:prstGeom>
          <a:solidFill>
            <a:srgbClr val="F0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14400" y="2286000"/>
            <a:ext cx="548640" cy="548640"/>
          </a:xfrm>
          <a:prstGeom prst="ellipse">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000" b="1">
                <a:solidFill>
                  <a:srgbClr val="FFFFFF"/>
                </a:solidFill>
                <a:latin typeface="Georgia"/>
              </a:rPr>
              <a:t>1</a:t>
            </a:r>
          </a:p>
        </p:txBody>
      </p:sp>
      <p:sp>
        <p:nvSpPr>
          <p:cNvPr id="8" name="TextBox 7"/>
          <p:cNvSpPr txBox="1"/>
          <p:nvPr/>
        </p:nvSpPr>
        <p:spPr>
          <a:xfrm>
            <a:off x="914400" y="3017520"/>
            <a:ext cx="2743200" cy="457200"/>
          </a:xfrm>
          <a:prstGeom prst="rect">
            <a:avLst/>
          </a:prstGeom>
          <a:noFill/>
        </p:spPr>
        <p:txBody>
          <a:bodyPr wrap="square" lIns="0" tIns="0" rIns="0" bIns="0"/>
          <a:lstStyle/>
          <a:p>
            <a:pPr algn="l">
              <a:spcBef>
                <a:spcPts val="0"/>
              </a:spcBef>
              <a:spcAft>
                <a:spcPts val="0"/>
              </a:spcAft>
            </a:pPr>
            <a:r>
              <a:rPr sz="1800" b="1">
                <a:solidFill>
                  <a:srgbClr val="2C5294"/>
                </a:solidFill>
                <a:latin typeface="Georgia"/>
              </a:rPr>
              <a:t>Send Role Confirmations</a:t>
            </a:r>
          </a:p>
        </p:txBody>
      </p:sp>
      <p:sp>
        <p:nvSpPr>
          <p:cNvPr id="9" name="TextBox 8"/>
          <p:cNvSpPr txBox="1"/>
          <p:nvPr/>
        </p:nvSpPr>
        <p:spPr>
          <a:xfrm>
            <a:off x="914400" y="3566160"/>
            <a:ext cx="2743200" cy="1371600"/>
          </a:xfrm>
          <a:prstGeom prst="rect">
            <a:avLst/>
          </a:prstGeom>
          <a:noFill/>
        </p:spPr>
        <p:txBody>
          <a:bodyPr wrap="square" lIns="0" tIns="0" rIns="0" bIns="0"/>
          <a:lstStyle/>
          <a:p>
            <a:pPr algn="l">
              <a:lnSpc>
                <a:spcPts val="2000"/>
              </a:lnSpc>
              <a:spcBef>
                <a:spcPts val="0"/>
              </a:spcBef>
              <a:spcAft>
                <a:spcPts val="0"/>
              </a:spcAft>
            </a:pPr>
            <a:r>
              <a:rPr sz="1300" b="0">
                <a:solidFill>
                  <a:srgbClr val="2C5294"/>
                </a:solidFill>
                <a:latin typeface="Calibri"/>
              </a:rPr>
              <a:t>Email members assigned to roles and track who confirms, who declines, and who still needs to reply.</a:t>
            </a:r>
          </a:p>
        </p:txBody>
      </p:sp>
      <p:sp>
        <p:nvSpPr>
          <p:cNvPr id="10" name="Rectangle 9"/>
          <p:cNvSpPr/>
          <p:nvPr/>
        </p:nvSpPr>
        <p:spPr>
          <a:xfrm>
            <a:off x="4297680" y="2011680"/>
            <a:ext cx="3291840" cy="3200400"/>
          </a:xfrm>
          <a:prstGeom prst="rect">
            <a:avLst/>
          </a:prstGeom>
          <a:solidFill>
            <a:srgbClr val="F0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572000" y="2286000"/>
            <a:ext cx="548640" cy="548640"/>
          </a:xfrm>
          <a:prstGeom prst="ellipse">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000" b="1">
                <a:solidFill>
                  <a:srgbClr val="FFFFFF"/>
                </a:solidFill>
                <a:latin typeface="Georgia"/>
              </a:rPr>
              <a:t>2</a:t>
            </a:r>
          </a:p>
        </p:txBody>
      </p:sp>
      <p:sp>
        <p:nvSpPr>
          <p:cNvPr id="12" name="TextBox 11"/>
          <p:cNvSpPr txBox="1"/>
          <p:nvPr/>
        </p:nvSpPr>
        <p:spPr>
          <a:xfrm>
            <a:off x="4572000" y="3017520"/>
            <a:ext cx="2743200" cy="457200"/>
          </a:xfrm>
          <a:prstGeom prst="rect">
            <a:avLst/>
          </a:prstGeom>
          <a:noFill/>
        </p:spPr>
        <p:txBody>
          <a:bodyPr wrap="square" lIns="0" tIns="0" rIns="0" bIns="0"/>
          <a:lstStyle/>
          <a:p>
            <a:pPr algn="l">
              <a:spcBef>
                <a:spcPts val="0"/>
              </a:spcBef>
              <a:spcAft>
                <a:spcPts val="0"/>
              </a:spcAft>
            </a:pPr>
            <a:r>
              <a:rPr sz="1800" b="1">
                <a:solidFill>
                  <a:srgbClr val="2C5294"/>
                </a:solidFill>
                <a:latin typeface="Georgia"/>
              </a:rPr>
              <a:t>Generate Meeting Agenda</a:t>
            </a:r>
          </a:p>
        </p:txBody>
      </p:sp>
      <p:sp>
        <p:nvSpPr>
          <p:cNvPr id="13" name="TextBox 12"/>
          <p:cNvSpPr txBox="1"/>
          <p:nvPr/>
        </p:nvSpPr>
        <p:spPr>
          <a:xfrm>
            <a:off x="4572000" y="3566160"/>
            <a:ext cx="2743200" cy="1371600"/>
          </a:xfrm>
          <a:prstGeom prst="rect">
            <a:avLst/>
          </a:prstGeom>
          <a:noFill/>
        </p:spPr>
        <p:txBody>
          <a:bodyPr wrap="square" lIns="0" tIns="0" rIns="0" bIns="0"/>
          <a:lstStyle/>
          <a:p>
            <a:pPr algn="l">
              <a:lnSpc>
                <a:spcPts val="2000"/>
              </a:lnSpc>
              <a:spcBef>
                <a:spcPts val="0"/>
              </a:spcBef>
              <a:spcAft>
                <a:spcPts val="0"/>
              </a:spcAft>
            </a:pPr>
            <a:r>
              <a:rPr sz="1300" b="0">
                <a:solidFill>
                  <a:srgbClr val="2C5294"/>
                </a:solidFill>
                <a:latin typeface="Calibri"/>
              </a:rPr>
              <a:t>Build a polished Google Doc agenda from the schedule, complete with speakers, evaluators, and Word of the Day.</a:t>
            </a:r>
          </a:p>
        </p:txBody>
      </p:sp>
      <p:sp>
        <p:nvSpPr>
          <p:cNvPr id="14" name="Rectangle 13"/>
          <p:cNvSpPr/>
          <p:nvPr/>
        </p:nvSpPr>
        <p:spPr>
          <a:xfrm>
            <a:off x="7955279" y="2011680"/>
            <a:ext cx="3291840" cy="3200400"/>
          </a:xfrm>
          <a:prstGeom prst="rect">
            <a:avLst/>
          </a:prstGeom>
          <a:solidFill>
            <a:srgbClr val="F0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229599" y="2286000"/>
            <a:ext cx="548640" cy="548640"/>
          </a:xfrm>
          <a:prstGeom prst="ellipse">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000" b="1">
                <a:solidFill>
                  <a:srgbClr val="FFFFFF"/>
                </a:solidFill>
                <a:latin typeface="Georgia"/>
              </a:rPr>
              <a:t>3</a:t>
            </a:r>
          </a:p>
        </p:txBody>
      </p:sp>
      <p:sp>
        <p:nvSpPr>
          <p:cNvPr id="16" name="TextBox 15"/>
          <p:cNvSpPr txBox="1"/>
          <p:nvPr/>
        </p:nvSpPr>
        <p:spPr>
          <a:xfrm>
            <a:off x="8229599" y="3017520"/>
            <a:ext cx="2743200" cy="457200"/>
          </a:xfrm>
          <a:prstGeom prst="rect">
            <a:avLst/>
          </a:prstGeom>
          <a:noFill/>
        </p:spPr>
        <p:txBody>
          <a:bodyPr wrap="square" lIns="0" tIns="0" rIns="0" bIns="0"/>
          <a:lstStyle/>
          <a:p>
            <a:pPr algn="l">
              <a:spcBef>
                <a:spcPts val="0"/>
              </a:spcBef>
              <a:spcAft>
                <a:spcPts val="0"/>
              </a:spcAft>
            </a:pPr>
            <a:r>
              <a:rPr sz="1800" b="1">
                <a:solidFill>
                  <a:srgbClr val="2C5294"/>
                </a:solidFill>
                <a:latin typeface="Georgia"/>
              </a:rPr>
              <a:t>Draft Club Meeting Email</a:t>
            </a:r>
          </a:p>
        </p:txBody>
      </p:sp>
      <p:sp>
        <p:nvSpPr>
          <p:cNvPr id="17" name="TextBox 16"/>
          <p:cNvSpPr txBox="1"/>
          <p:nvPr/>
        </p:nvSpPr>
        <p:spPr>
          <a:xfrm>
            <a:off x="8229599" y="3566160"/>
            <a:ext cx="2743200" cy="1371600"/>
          </a:xfrm>
          <a:prstGeom prst="rect">
            <a:avLst/>
          </a:prstGeom>
          <a:noFill/>
        </p:spPr>
        <p:txBody>
          <a:bodyPr wrap="square" lIns="0" tIns="0" rIns="0" bIns="0"/>
          <a:lstStyle/>
          <a:p>
            <a:pPr algn="l">
              <a:lnSpc>
                <a:spcPts val="2000"/>
              </a:lnSpc>
              <a:spcBef>
                <a:spcPts val="0"/>
              </a:spcBef>
              <a:spcAft>
                <a:spcPts val="0"/>
              </a:spcAft>
            </a:pPr>
            <a:r>
              <a:rPr sz="1300" b="0">
                <a:solidFill>
                  <a:srgbClr val="2C5294"/>
                </a:solidFill>
                <a:latin typeface="Calibri"/>
              </a:rPr>
              <a:t>Create a weekly reminder email as a Gmail draft, ready for your review before sending.</a:t>
            </a:r>
          </a:p>
        </p:txBody>
      </p:sp>
      <p:sp>
        <p:nvSpPr>
          <p:cNvPr id="18" name="TextBox 17"/>
          <p:cNvSpPr txBox="1"/>
          <p:nvPr/>
        </p:nvSpPr>
        <p:spPr>
          <a:xfrm>
            <a:off x="640080" y="5486400"/>
            <a:ext cx="9144000" cy="457200"/>
          </a:xfrm>
          <a:prstGeom prst="rect">
            <a:avLst/>
          </a:prstGeom>
          <a:noFill/>
        </p:spPr>
        <p:txBody>
          <a:bodyPr wrap="square" lIns="0" tIns="0" rIns="0" bIns="0"/>
          <a:lstStyle/>
          <a:p>
            <a:pPr algn="l">
              <a:spcBef>
                <a:spcPts val="0"/>
              </a:spcBef>
              <a:spcAft>
                <a:spcPts val="0"/>
              </a:spcAft>
            </a:pPr>
            <a:r>
              <a:rPr sz="1400" b="1">
                <a:solidFill>
                  <a:srgbClr val="2C5294"/>
                </a:solidFill>
                <a:latin typeface="Calibri"/>
              </a:rPr>
              <a:t>Any club member can use these tools. Everything runs from the Toastmasters menu in your spreadsheet.</a:t>
            </a:r>
          </a:p>
        </p:txBody>
      </p:sp>
      <p:sp>
        <p:nvSpPr>
          <p:cNvPr id="19" name="TextBox 18"/>
          <p:cNvSpPr txBox="1"/>
          <p:nvPr/>
        </p:nvSpPr>
        <p:spPr>
          <a:xfrm>
            <a:off x="10515600" y="6400800"/>
            <a:ext cx="1371600" cy="365760"/>
          </a:xfrm>
          <a:prstGeom prst="rect">
            <a:avLst/>
          </a:prstGeom>
          <a:noFill/>
        </p:spPr>
        <p:txBody>
          <a:bodyPr wrap="square" lIns="0" tIns="0" rIns="0" bIns="0"/>
          <a:lstStyle/>
          <a:p>
            <a:pPr algn="r">
              <a:spcBef>
                <a:spcPts val="0"/>
              </a:spcBef>
              <a:spcAft>
                <a:spcPts val="0"/>
              </a:spcAft>
            </a:pPr>
            <a:r>
              <a:rPr sz="1000" b="0">
                <a:solidFill>
                  <a:srgbClr val="5A7BA8"/>
                </a:solidFill>
                <a:latin typeface="Calibri"/>
              </a:rPr>
              <a:t>2 / 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57200"/>
            <a:ext cx="7315200" cy="640080"/>
          </a:xfrm>
          <a:prstGeom prst="rect">
            <a:avLst/>
          </a:prstGeom>
          <a:noFill/>
        </p:spPr>
        <p:txBody>
          <a:bodyPr wrap="square" lIns="0" tIns="0" rIns="0" bIns="0"/>
          <a:lstStyle/>
          <a:p>
            <a:pPr algn="l">
              <a:spcBef>
                <a:spcPts val="0"/>
              </a:spcBef>
              <a:spcAft>
                <a:spcPts val="0"/>
              </a:spcAft>
            </a:pPr>
            <a:r>
              <a:rPr sz="3600" b="1">
                <a:solidFill>
                  <a:srgbClr val="2C5294"/>
                </a:solidFill>
                <a:latin typeface="Georgia"/>
              </a:rPr>
              <a:t>First Time Setup</a:t>
            </a:r>
          </a:p>
        </p:txBody>
      </p:sp>
      <p:sp>
        <p:nvSpPr>
          <p:cNvPr id="5" name="TextBox 4"/>
          <p:cNvSpPr txBox="1"/>
          <p:nvPr/>
        </p:nvSpPr>
        <p:spPr>
          <a:xfrm>
            <a:off x="640080" y="1188720"/>
            <a:ext cx="9144000" cy="457200"/>
          </a:xfrm>
          <a:prstGeom prst="rect">
            <a:avLst/>
          </a:prstGeom>
          <a:noFill/>
        </p:spPr>
        <p:txBody>
          <a:bodyPr wrap="square" lIns="0" tIns="0" rIns="0" bIns="0"/>
          <a:lstStyle/>
          <a:p>
            <a:pPr algn="l">
              <a:spcBef>
                <a:spcPts val="0"/>
              </a:spcBef>
              <a:spcAft>
                <a:spcPts val="0"/>
              </a:spcAft>
            </a:pPr>
            <a:r>
              <a:rPr sz="1600" b="0">
                <a:solidFill>
                  <a:srgbClr val="5A7BA8"/>
                </a:solidFill>
                <a:latin typeface="Calibri"/>
              </a:rPr>
              <a:t>Google Permissions (one-time authorization)</a:t>
            </a:r>
          </a:p>
        </p:txBody>
      </p:sp>
      <p:sp>
        <p:nvSpPr>
          <p:cNvPr id="6" name="Oval 5"/>
          <p:cNvSpPr/>
          <p:nvPr/>
        </p:nvSpPr>
        <p:spPr>
          <a:xfrm>
            <a:off x="640080" y="1920240"/>
            <a:ext cx="457200" cy="457200"/>
          </a:xfrm>
          <a:prstGeom prst="ellipse">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1</a:t>
            </a:r>
          </a:p>
        </p:txBody>
      </p:sp>
      <p:sp>
        <p:nvSpPr>
          <p:cNvPr id="7" name="TextBox 6"/>
          <p:cNvSpPr txBox="1"/>
          <p:nvPr/>
        </p:nvSpPr>
        <p:spPr>
          <a:xfrm>
            <a:off x="1280160" y="1965960"/>
            <a:ext cx="5029200" cy="457200"/>
          </a:xfrm>
          <a:prstGeom prst="rect">
            <a:avLst/>
          </a:prstGeom>
          <a:noFill/>
        </p:spPr>
        <p:txBody>
          <a:bodyPr wrap="square" lIns="0" tIns="0" rIns="0" bIns="0"/>
          <a:lstStyle/>
          <a:p>
            <a:pPr algn="l">
              <a:spcBef>
                <a:spcPts val="0"/>
              </a:spcBef>
              <a:spcAft>
                <a:spcPts val="0"/>
              </a:spcAft>
            </a:pPr>
            <a:r>
              <a:rPr sz="1500" b="0">
                <a:solidFill>
                  <a:srgbClr val="2C5294"/>
                </a:solidFill>
                <a:latin typeface="Calibri"/>
              </a:rPr>
              <a:t>Google shows an "This app isn't verified" warning. This is normal.</a:t>
            </a:r>
          </a:p>
        </p:txBody>
      </p:sp>
      <p:sp>
        <p:nvSpPr>
          <p:cNvPr id="8" name="Oval 7"/>
          <p:cNvSpPr/>
          <p:nvPr/>
        </p:nvSpPr>
        <p:spPr>
          <a:xfrm>
            <a:off x="640080" y="2743200"/>
            <a:ext cx="457200" cy="457200"/>
          </a:xfrm>
          <a:prstGeom prst="ellipse">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2</a:t>
            </a:r>
          </a:p>
        </p:txBody>
      </p:sp>
      <p:sp>
        <p:nvSpPr>
          <p:cNvPr id="9" name="TextBox 8"/>
          <p:cNvSpPr txBox="1"/>
          <p:nvPr/>
        </p:nvSpPr>
        <p:spPr>
          <a:xfrm>
            <a:off x="1280160" y="2788920"/>
            <a:ext cx="5029200" cy="457200"/>
          </a:xfrm>
          <a:prstGeom prst="rect">
            <a:avLst/>
          </a:prstGeom>
          <a:noFill/>
        </p:spPr>
        <p:txBody>
          <a:bodyPr wrap="square" lIns="0" tIns="0" rIns="0" bIns="0"/>
          <a:lstStyle/>
          <a:p>
            <a:pPr algn="l">
              <a:spcBef>
                <a:spcPts val="0"/>
              </a:spcBef>
              <a:spcAft>
                <a:spcPts val="0"/>
              </a:spcAft>
            </a:pPr>
            <a:r>
              <a:rPr sz="1500" b="0">
                <a:solidFill>
                  <a:srgbClr val="2C5294"/>
                </a:solidFill>
                <a:latin typeface="Calibri"/>
              </a:rPr>
              <a:t>Click "Advanced" (small link at the bottom-left).</a:t>
            </a:r>
          </a:p>
        </p:txBody>
      </p:sp>
      <p:sp>
        <p:nvSpPr>
          <p:cNvPr id="10" name="Oval 9"/>
          <p:cNvSpPr/>
          <p:nvPr/>
        </p:nvSpPr>
        <p:spPr>
          <a:xfrm>
            <a:off x="640080" y="3566160"/>
            <a:ext cx="457200" cy="457200"/>
          </a:xfrm>
          <a:prstGeom prst="ellipse">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3</a:t>
            </a:r>
          </a:p>
        </p:txBody>
      </p:sp>
      <p:sp>
        <p:nvSpPr>
          <p:cNvPr id="11" name="TextBox 10"/>
          <p:cNvSpPr txBox="1"/>
          <p:nvPr/>
        </p:nvSpPr>
        <p:spPr>
          <a:xfrm>
            <a:off x="1280160" y="3611880"/>
            <a:ext cx="5029200" cy="457200"/>
          </a:xfrm>
          <a:prstGeom prst="rect">
            <a:avLst/>
          </a:prstGeom>
          <a:noFill/>
        </p:spPr>
        <p:txBody>
          <a:bodyPr wrap="square" lIns="0" tIns="0" rIns="0" bIns="0"/>
          <a:lstStyle/>
          <a:p>
            <a:pPr algn="l">
              <a:spcBef>
                <a:spcPts val="0"/>
              </a:spcBef>
              <a:spcAft>
                <a:spcPts val="0"/>
              </a:spcAft>
            </a:pPr>
            <a:r>
              <a:rPr sz="1500" b="0">
                <a:solidFill>
                  <a:srgbClr val="2C5294"/>
                </a:solidFill>
                <a:latin typeface="Calibri"/>
              </a:rPr>
              <a:t>Click "Go to [project name] (unsafe)".</a:t>
            </a:r>
          </a:p>
        </p:txBody>
      </p:sp>
      <p:sp>
        <p:nvSpPr>
          <p:cNvPr id="12" name="Oval 11"/>
          <p:cNvSpPr/>
          <p:nvPr/>
        </p:nvSpPr>
        <p:spPr>
          <a:xfrm>
            <a:off x="640080" y="4389120"/>
            <a:ext cx="457200" cy="457200"/>
          </a:xfrm>
          <a:prstGeom prst="ellipse">
            <a:avLst/>
          </a:prstGeom>
          <a:solidFill>
            <a:srgbClr val="93C4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4</a:t>
            </a:r>
          </a:p>
        </p:txBody>
      </p:sp>
      <p:sp>
        <p:nvSpPr>
          <p:cNvPr id="13" name="TextBox 12"/>
          <p:cNvSpPr txBox="1"/>
          <p:nvPr/>
        </p:nvSpPr>
        <p:spPr>
          <a:xfrm>
            <a:off x="1280160" y="4434840"/>
            <a:ext cx="5029200" cy="457200"/>
          </a:xfrm>
          <a:prstGeom prst="rect">
            <a:avLst/>
          </a:prstGeom>
          <a:noFill/>
        </p:spPr>
        <p:txBody>
          <a:bodyPr wrap="square" lIns="0" tIns="0" rIns="0" bIns="0"/>
          <a:lstStyle/>
          <a:p>
            <a:pPr algn="l">
              <a:spcBef>
                <a:spcPts val="0"/>
              </a:spcBef>
              <a:spcAft>
                <a:spcPts val="0"/>
              </a:spcAft>
            </a:pPr>
            <a:r>
              <a:rPr sz="1500" b="0">
                <a:solidFill>
                  <a:srgbClr val="2C5294"/>
                </a:solidFill>
                <a:latin typeface="Calibri"/>
              </a:rPr>
              <a:t>Review the permissions and click "Allow".</a:t>
            </a:r>
          </a:p>
        </p:txBody>
      </p:sp>
      <p:sp>
        <p:nvSpPr>
          <p:cNvPr id="14" name="Rectangle 13"/>
          <p:cNvSpPr/>
          <p:nvPr/>
        </p:nvSpPr>
        <p:spPr>
          <a:xfrm>
            <a:off x="640080" y="5303520"/>
            <a:ext cx="5943600" cy="914400"/>
          </a:xfrm>
          <a:prstGeom prst="rect">
            <a:avLst/>
          </a:prstGeom>
          <a:solidFill>
            <a:srgbClr val="F0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394960"/>
            <a:ext cx="5486400" cy="731520"/>
          </a:xfrm>
          <a:prstGeom prst="rect">
            <a:avLst/>
          </a:prstGeom>
          <a:noFill/>
        </p:spPr>
        <p:txBody>
          <a:bodyPr wrap="square" lIns="0" tIns="0" rIns="0" bIns="0"/>
          <a:lstStyle/>
          <a:p>
            <a:pPr algn="l">
              <a:lnSpc>
                <a:spcPts val="1800"/>
              </a:lnSpc>
              <a:spcBef>
                <a:spcPts val="0"/>
              </a:spcBef>
              <a:spcAft>
                <a:spcPts val="0"/>
              </a:spcAft>
            </a:pPr>
            <a:r>
              <a:rPr sz="1200" b="0">
                <a:solidFill>
                  <a:srgbClr val="5A7BA8"/>
                </a:solidFill>
                <a:latin typeface="Calibri"/>
              </a:rPr>
              <a:t>The script needs access to your spreadsheet, permission to send email on your behalf, and permission to create Google Docs. After you approve once, Google remembers your choice.</a:t>
            </a:r>
          </a:p>
        </p:txBody>
      </p:sp>
      <p:pic>
        <p:nvPicPr>
          <p:cNvPr id="16" name="Picture 15" descr="02-menu-dropdown.jpg"/>
          <p:cNvPicPr>
            <a:picLocks noChangeAspect="1"/>
          </p:cNvPicPr>
          <p:nvPr/>
        </p:nvPicPr>
        <p:blipFill>
          <a:blip r:embed="rId2"/>
          <a:stretch>
            <a:fillRect/>
          </a:stretch>
        </p:blipFill>
        <p:spPr>
          <a:xfrm>
            <a:off x="6705295" y="1371600"/>
            <a:ext cx="5029200" cy="2965330"/>
          </a:xfrm>
          <a:prstGeom prst="rect">
            <a:avLst/>
          </a:prstGeom>
        </p:spPr>
      </p:pic>
      <p:sp>
        <p:nvSpPr>
          <p:cNvPr id="17" name="TextBox 16"/>
          <p:cNvSpPr txBox="1"/>
          <p:nvPr/>
        </p:nvSpPr>
        <p:spPr>
          <a:xfrm>
            <a:off x="10515600" y="6400800"/>
            <a:ext cx="1371600" cy="365760"/>
          </a:xfrm>
          <a:prstGeom prst="rect">
            <a:avLst/>
          </a:prstGeom>
          <a:noFill/>
        </p:spPr>
        <p:txBody>
          <a:bodyPr wrap="square" lIns="0" tIns="0" rIns="0" bIns="0"/>
          <a:lstStyle/>
          <a:p>
            <a:pPr algn="r">
              <a:spcBef>
                <a:spcPts val="0"/>
              </a:spcBef>
              <a:spcAft>
                <a:spcPts val="0"/>
              </a:spcAft>
            </a:pPr>
            <a:r>
              <a:rPr sz="1000" b="0">
                <a:solidFill>
                  <a:srgbClr val="5A7BA8"/>
                </a:solidFill>
                <a:latin typeface="Calibri"/>
              </a:rPr>
              <a:t>3 / 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000000" cy="640080"/>
          </a:xfrm>
          <a:prstGeom prst="rect">
            <a:avLst/>
          </a:prstGeom>
          <a:noFill/>
        </p:spPr>
        <p:txBody>
          <a:bodyPr wrap="square">
            <a:spAutoFit/>
          </a:bodyPr>
          <a:lstStyle/>
          <a:p>
            <a:pPr algn="l"/>
            <a:r>
              <a:rPr sz="3600" b="1">
                <a:solidFill>
                  <a:srgbClr val="2C5294"/>
                </a:solidFill>
                <a:latin typeface="Georgia"/>
              </a:rPr>
              <a:t>Role Confirmations</a:t>
            </a:r>
          </a:p>
        </p:txBody>
      </p:sp>
      <p:sp>
        <p:nvSpPr>
          <p:cNvPr id="4" name="TextBox 3"/>
          <p:cNvSpPr txBox="1"/>
          <p:nvPr/>
        </p:nvSpPr>
        <p:spPr>
          <a:xfrm>
            <a:off x="640080" y="1097280"/>
            <a:ext cx="10000000" cy="365760"/>
          </a:xfrm>
          <a:prstGeom prst="rect">
            <a:avLst/>
          </a:prstGeom>
          <a:noFill/>
        </p:spPr>
        <p:txBody>
          <a:bodyPr wrap="square">
            <a:spAutoFit/>
          </a:bodyPr>
          <a:lstStyle/>
          <a:p>
            <a:pPr algn="l"/>
            <a:r>
              <a:rPr sz="1600" b="0">
                <a:solidFill>
                  <a:srgbClr val="5A7BA8"/>
                </a:solidFill>
                <a:latin typeface="Calibri"/>
              </a:rPr>
              <a:t>Select "Start Role Confirmations" from the Toastmasters menu</a:t>
            </a:r>
          </a:p>
        </p:txBody>
      </p:sp>
      <p:pic>
        <p:nvPicPr>
          <p:cNvPr id="5" name="Picture 4" descr="image.jpg"/>
          <p:cNvPicPr>
            <a:picLocks noChangeAspect="1"/>
          </p:cNvPicPr>
          <p:nvPr/>
        </p:nvPicPr>
        <p:blipFill>
          <a:blip r:embed="rId2"/>
          <a:stretch>
            <a:fillRect/>
          </a:stretch>
        </p:blipFill>
        <p:spPr>
          <a:xfrm>
            <a:off x="2300000" y="1600000"/>
            <a:ext cx="7500000" cy="4422170"/>
          </a:xfrm>
          <a:prstGeom prst="rect">
            <a:avLst/>
          </a:prstGeom>
        </p:spPr>
      </p:pic>
      <p:sp>
        <p:nvSpPr>
          <p:cNvPr id="6" name="Rectangle 5"/>
          <p:cNvSpPr/>
          <p:nvPr/>
        </p:nvSpPr>
        <p:spPr>
          <a:xfrm>
            <a:off x="5137500" y="2122771"/>
            <a:ext cx="1862500" cy="258997"/>
          </a:xfrm>
          <a:prstGeom prst="rect">
            <a:avLst/>
          </a:prstGeom>
          <a:noFill/>
          <a:ln w="38100">
            <a:solidFill>
              <a:srgbClr val="E8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20040"/>
            <a:ext cx="4572000" cy="320040"/>
          </a:xfrm>
          <a:prstGeom prst="rect">
            <a:avLst/>
          </a:prstGeom>
          <a:noFill/>
        </p:spPr>
        <p:txBody>
          <a:bodyPr wrap="square" lIns="0" tIns="0" rIns="0" bIns="0"/>
          <a:lstStyle/>
          <a:p>
            <a:pPr algn="l">
              <a:spcBef>
                <a:spcPts val="0"/>
              </a:spcBef>
              <a:spcAft>
                <a:spcPts val="0"/>
              </a:spcAft>
            </a:pPr>
            <a:r>
              <a:rPr sz="1100" b="0">
                <a:solidFill>
                  <a:srgbClr val="5A7BA8"/>
                </a:solidFill>
                <a:latin typeface="Calibri"/>
              </a:rPr>
              <a:t>Role Confirmations</a:t>
            </a:r>
          </a:p>
        </p:txBody>
      </p:sp>
      <p:sp>
        <p:nvSpPr>
          <p:cNvPr id="5" name="TextBox 4"/>
          <p:cNvSpPr txBox="1"/>
          <p:nvPr/>
        </p:nvSpPr>
        <p:spPr>
          <a:xfrm>
            <a:off x="640080" y="640080"/>
            <a:ext cx="4572000" cy="548640"/>
          </a:xfrm>
          <a:prstGeom prst="rect">
            <a:avLst/>
          </a:prstGeom>
          <a:noFill/>
        </p:spPr>
        <p:txBody>
          <a:bodyPr wrap="square" lIns="0" tIns="0" rIns="0" bIns="0"/>
          <a:lstStyle/>
          <a:p>
            <a:pPr algn="l">
              <a:spcBef>
                <a:spcPts val="0"/>
              </a:spcBef>
              <a:spcAft>
                <a:spcPts val="0"/>
              </a:spcAft>
            </a:pPr>
            <a:r>
              <a:rPr sz="2400" b="1">
                <a:solidFill>
                  <a:srgbClr val="2C5294"/>
                </a:solidFill>
                <a:latin typeface="Georgia"/>
              </a:rPr>
              <a:t>Open the Toastmasters Menu</a:t>
            </a:r>
          </a:p>
        </p:txBody>
      </p:sp>
      <p:sp>
        <p:nvSpPr>
          <p:cNvPr id="6" name="TextBox 5"/>
          <p:cNvSpPr txBox="1"/>
          <p:nvPr/>
        </p:nvSpPr>
        <p:spPr>
          <a:xfrm>
            <a:off x="640080" y="1371600"/>
            <a:ext cx="4572000" cy="1645920"/>
          </a:xfrm>
          <a:prstGeom prst="rect">
            <a:avLst/>
          </a:prstGeom>
          <a:noFill/>
        </p:spPr>
        <p:txBody>
          <a:bodyPr wrap="square" lIns="0" tIns="0" rIns="0" bIns="0"/>
          <a:lstStyle/>
          <a:p>
            <a:pPr algn="l">
              <a:lnSpc>
                <a:spcPts val="2200"/>
              </a:lnSpc>
              <a:spcBef>
                <a:spcPts val="0"/>
              </a:spcBef>
              <a:spcAft>
                <a:spcPts val="0"/>
              </a:spcAft>
            </a:pPr>
            <a:r>
              <a:rPr sz="1400" b="0">
                <a:solidFill>
                  <a:srgbClr val="2C5294"/>
                </a:solidFill>
                <a:latin typeface="Calibri"/>
              </a:rPr>
              <a:t>Click Toastmasters in the menu bar, then select Start Role Confirmations.</a:t>
            </a:r>
          </a:p>
        </p:txBody>
      </p:sp>
      <p:pic>
        <p:nvPicPr>
          <p:cNvPr id="7" name="Picture 6" descr="02-menu-dropdown.jpg"/>
          <p:cNvPicPr>
            <a:picLocks noChangeAspect="1"/>
          </p:cNvPicPr>
          <p:nvPr/>
        </p:nvPicPr>
        <p:blipFill>
          <a:blip r:embed="rId2"/>
          <a:stretch>
            <a:fillRect/>
          </a:stretch>
        </p:blipFill>
        <p:spPr>
          <a:xfrm>
            <a:off x="6065215" y="2085867"/>
            <a:ext cx="5486400" cy="3234905"/>
          </a:xfrm>
          <a:prstGeom prst="rect">
            <a:avLst/>
          </a:prstGeom>
        </p:spPr>
      </p:pic>
      <p:sp>
        <p:nvSpPr>
          <p:cNvPr id="8" name="TextBox 7"/>
          <p:cNvSpPr txBox="1"/>
          <p:nvPr/>
        </p:nvSpPr>
        <p:spPr>
          <a:xfrm>
            <a:off x="10515600" y="6400800"/>
            <a:ext cx="1371600" cy="365760"/>
          </a:xfrm>
          <a:prstGeom prst="rect">
            <a:avLst/>
          </a:prstGeom>
          <a:noFill/>
        </p:spPr>
        <p:txBody>
          <a:bodyPr wrap="square" lIns="0" tIns="0" rIns="0" bIns="0"/>
          <a:lstStyle/>
          <a:p>
            <a:pPr algn="r">
              <a:spcBef>
                <a:spcPts val="0"/>
              </a:spcBef>
              <a:spcAft>
                <a:spcPts val="0"/>
              </a:spcAft>
            </a:pPr>
            <a:r>
              <a:rPr sz="1000" b="0">
                <a:solidFill>
                  <a:srgbClr val="5A7BA8"/>
                </a:solidFill>
                <a:latin typeface="Calibri"/>
              </a:rPr>
              <a:t>5 / 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20040"/>
            <a:ext cx="4572000" cy="320040"/>
          </a:xfrm>
          <a:prstGeom prst="rect">
            <a:avLst/>
          </a:prstGeom>
          <a:noFill/>
        </p:spPr>
        <p:txBody>
          <a:bodyPr wrap="square" lIns="0" tIns="0" rIns="0" bIns="0"/>
          <a:lstStyle/>
          <a:p>
            <a:pPr algn="l">
              <a:spcBef>
                <a:spcPts val="0"/>
              </a:spcBef>
              <a:spcAft>
                <a:spcPts val="0"/>
              </a:spcAft>
            </a:pPr>
            <a:r>
              <a:rPr sz="1100" b="0">
                <a:solidFill>
                  <a:srgbClr val="5A7BA8"/>
                </a:solidFill>
                <a:latin typeface="Calibri"/>
              </a:rPr>
              <a:t>Role Confirmations</a:t>
            </a:r>
          </a:p>
        </p:txBody>
      </p:sp>
      <p:sp>
        <p:nvSpPr>
          <p:cNvPr id="5" name="TextBox 4"/>
          <p:cNvSpPr txBox="1"/>
          <p:nvPr/>
        </p:nvSpPr>
        <p:spPr>
          <a:xfrm>
            <a:off x="640080" y="640080"/>
            <a:ext cx="4572000" cy="548640"/>
          </a:xfrm>
          <a:prstGeom prst="rect">
            <a:avLst/>
          </a:prstGeom>
          <a:noFill/>
        </p:spPr>
        <p:txBody>
          <a:bodyPr wrap="square" lIns="0" tIns="0" rIns="0" bIns="0"/>
          <a:lstStyle/>
          <a:p>
            <a:pPr algn="l">
              <a:spcBef>
                <a:spcPts val="0"/>
              </a:spcBef>
              <a:spcAft>
                <a:spcPts val="0"/>
              </a:spcAft>
            </a:pPr>
            <a:r>
              <a:rPr sz="2400" b="1">
                <a:solidFill>
                  <a:srgbClr val="2C5294"/>
                </a:solidFill>
                <a:latin typeface="Georgia"/>
              </a:rPr>
              <a:t>Confirm the Schedule Sheet</a:t>
            </a:r>
          </a:p>
        </p:txBody>
      </p:sp>
      <p:sp>
        <p:nvSpPr>
          <p:cNvPr id="6" name="TextBox 5"/>
          <p:cNvSpPr txBox="1"/>
          <p:nvPr/>
        </p:nvSpPr>
        <p:spPr>
          <a:xfrm>
            <a:off x="640080" y="1371600"/>
            <a:ext cx="4572000" cy="1645920"/>
          </a:xfrm>
          <a:prstGeom prst="rect">
            <a:avLst/>
          </a:prstGeom>
          <a:noFill/>
        </p:spPr>
        <p:txBody>
          <a:bodyPr wrap="square" lIns="0" tIns="0" rIns="0" bIns="0"/>
          <a:lstStyle/>
          <a:p>
            <a:pPr algn="l">
              <a:lnSpc>
                <a:spcPts val="2200"/>
              </a:lnSpc>
              <a:spcBef>
                <a:spcPts val="0"/>
              </a:spcBef>
              <a:spcAft>
                <a:spcPts val="0"/>
              </a:spcAft>
            </a:pPr>
            <a:r>
              <a:rPr sz="1400" b="0">
                <a:solidFill>
                  <a:srgbClr val="2C5294"/>
                </a:solidFill>
                <a:latin typeface="Calibri"/>
              </a:rPr>
              <a:t>A dialog asks whether to continue with the current schedule tab (for example, "SCHED 2026"). Click Yes if that is the correct schedule.</a:t>
            </a:r>
          </a:p>
        </p:txBody>
      </p:sp>
      <p:pic>
        <p:nvPicPr>
          <p:cNvPr id="7" name="Picture 6" descr="03-sheet-confirm.jpg"/>
          <p:cNvPicPr>
            <a:picLocks noChangeAspect="1"/>
          </p:cNvPicPr>
          <p:nvPr/>
        </p:nvPicPr>
        <p:blipFill>
          <a:blip r:embed="rId2"/>
          <a:stretch>
            <a:fillRect/>
          </a:stretch>
        </p:blipFill>
        <p:spPr>
          <a:xfrm>
            <a:off x="6065215" y="2462348"/>
            <a:ext cx="5486400" cy="2481942"/>
          </a:xfrm>
          <a:prstGeom prst="rect">
            <a:avLst/>
          </a:prstGeom>
        </p:spPr>
      </p:pic>
      <p:sp>
        <p:nvSpPr>
          <p:cNvPr id="8" name="TextBox 7"/>
          <p:cNvSpPr txBox="1"/>
          <p:nvPr/>
        </p:nvSpPr>
        <p:spPr>
          <a:xfrm>
            <a:off x="10515600" y="6400800"/>
            <a:ext cx="1371600" cy="365760"/>
          </a:xfrm>
          <a:prstGeom prst="rect">
            <a:avLst/>
          </a:prstGeom>
          <a:noFill/>
        </p:spPr>
        <p:txBody>
          <a:bodyPr wrap="square" lIns="0" tIns="0" rIns="0" bIns="0"/>
          <a:lstStyle/>
          <a:p>
            <a:pPr algn="r">
              <a:spcBef>
                <a:spcPts val="0"/>
              </a:spcBef>
              <a:spcAft>
                <a:spcPts val="0"/>
              </a:spcAft>
            </a:pPr>
            <a:r>
              <a:rPr sz="1000" b="0">
                <a:solidFill>
                  <a:srgbClr val="5A7BA8"/>
                </a:solidFill>
                <a:latin typeface="Calibri"/>
              </a:rPr>
              <a:t>6 / 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20040"/>
            <a:ext cx="4572000" cy="320040"/>
          </a:xfrm>
          <a:prstGeom prst="rect">
            <a:avLst/>
          </a:prstGeom>
          <a:noFill/>
        </p:spPr>
        <p:txBody>
          <a:bodyPr wrap="square" lIns="0" tIns="0" rIns="0" bIns="0"/>
          <a:lstStyle/>
          <a:p>
            <a:pPr algn="l">
              <a:spcBef>
                <a:spcPts val="0"/>
              </a:spcBef>
              <a:spcAft>
                <a:spcPts val="0"/>
              </a:spcAft>
            </a:pPr>
            <a:r>
              <a:rPr sz="1100" b="0">
                <a:solidFill>
                  <a:srgbClr val="5A7BA8"/>
                </a:solidFill>
                <a:latin typeface="Calibri"/>
              </a:rPr>
              <a:t>Role Confirmations</a:t>
            </a:r>
          </a:p>
        </p:txBody>
      </p:sp>
      <p:sp>
        <p:nvSpPr>
          <p:cNvPr id="5" name="TextBox 4"/>
          <p:cNvSpPr txBox="1"/>
          <p:nvPr/>
        </p:nvSpPr>
        <p:spPr>
          <a:xfrm>
            <a:off x="640080" y="640080"/>
            <a:ext cx="4572000" cy="548640"/>
          </a:xfrm>
          <a:prstGeom prst="rect">
            <a:avLst/>
          </a:prstGeom>
          <a:noFill/>
        </p:spPr>
        <p:txBody>
          <a:bodyPr wrap="square" lIns="0" tIns="0" rIns="0" bIns="0"/>
          <a:lstStyle/>
          <a:p>
            <a:pPr algn="l">
              <a:spcBef>
                <a:spcPts val="0"/>
              </a:spcBef>
              <a:spcAft>
                <a:spcPts val="0"/>
              </a:spcAft>
            </a:pPr>
            <a:r>
              <a:rPr sz="2400" b="1">
                <a:solidFill>
                  <a:srgbClr val="2C5294"/>
                </a:solidFill>
                <a:latin typeface="Georgia"/>
              </a:rPr>
              <a:t>Pick the Meeting Date</a:t>
            </a:r>
          </a:p>
        </p:txBody>
      </p:sp>
      <p:sp>
        <p:nvSpPr>
          <p:cNvPr id="6" name="TextBox 5"/>
          <p:cNvSpPr txBox="1"/>
          <p:nvPr/>
        </p:nvSpPr>
        <p:spPr>
          <a:xfrm>
            <a:off x="640080" y="1371600"/>
            <a:ext cx="4572000" cy="1645920"/>
          </a:xfrm>
          <a:prstGeom prst="rect">
            <a:avLst/>
          </a:prstGeom>
          <a:noFill/>
        </p:spPr>
        <p:txBody>
          <a:bodyPr wrap="square" lIns="0" tIns="0" rIns="0" bIns="0"/>
          <a:lstStyle/>
          <a:p>
            <a:pPr algn="l">
              <a:lnSpc>
                <a:spcPts val="2200"/>
              </a:lnSpc>
              <a:spcBef>
                <a:spcPts val="0"/>
              </a:spcBef>
              <a:spcAft>
                <a:spcPts val="0"/>
              </a:spcAft>
            </a:pPr>
            <a:r>
              <a:rPr sz="1400" b="0">
                <a:solidFill>
                  <a:srgbClr val="2C5294"/>
                </a:solidFill>
                <a:latin typeface="Calibri"/>
              </a:rPr>
              <a:t>Select the meeting date from the list of upcoming dates. The default is the next meeting. Click OK to accept it, or pick a different date.</a:t>
            </a:r>
          </a:p>
        </p:txBody>
      </p:sp>
      <p:pic>
        <p:nvPicPr>
          <p:cNvPr id="7" name="Picture 6" descr="04-date-picker.jpg"/>
          <p:cNvPicPr>
            <a:picLocks noChangeAspect="1"/>
          </p:cNvPicPr>
          <p:nvPr/>
        </p:nvPicPr>
        <p:blipFill>
          <a:blip r:embed="rId2"/>
          <a:stretch>
            <a:fillRect/>
          </a:stretch>
        </p:blipFill>
        <p:spPr>
          <a:xfrm>
            <a:off x="6065215" y="2246085"/>
            <a:ext cx="5486400" cy="2914468"/>
          </a:xfrm>
          <a:prstGeom prst="rect">
            <a:avLst/>
          </a:prstGeom>
        </p:spPr>
      </p:pic>
      <p:sp>
        <p:nvSpPr>
          <p:cNvPr id="8" name="TextBox 7"/>
          <p:cNvSpPr txBox="1"/>
          <p:nvPr/>
        </p:nvSpPr>
        <p:spPr>
          <a:xfrm>
            <a:off x="10515600" y="6400800"/>
            <a:ext cx="1371600" cy="365760"/>
          </a:xfrm>
          <a:prstGeom prst="rect">
            <a:avLst/>
          </a:prstGeom>
          <a:noFill/>
        </p:spPr>
        <p:txBody>
          <a:bodyPr wrap="square" lIns="0" tIns="0" rIns="0" bIns="0"/>
          <a:lstStyle/>
          <a:p>
            <a:pPr algn="r">
              <a:spcBef>
                <a:spcPts val="0"/>
              </a:spcBef>
              <a:spcAft>
                <a:spcPts val="0"/>
              </a:spcAft>
            </a:pPr>
            <a:r>
              <a:rPr sz="1000" b="0">
                <a:solidFill>
                  <a:srgbClr val="5A7BA8"/>
                </a:solidFill>
                <a:latin typeface="Calibri"/>
              </a:rPr>
              <a:t>7 / 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20040"/>
            <a:ext cx="4572000" cy="320040"/>
          </a:xfrm>
          <a:prstGeom prst="rect">
            <a:avLst/>
          </a:prstGeom>
          <a:noFill/>
        </p:spPr>
        <p:txBody>
          <a:bodyPr wrap="square" lIns="0" tIns="0" rIns="0" bIns="0"/>
          <a:lstStyle/>
          <a:p>
            <a:pPr algn="l">
              <a:spcBef>
                <a:spcPts val="0"/>
              </a:spcBef>
              <a:spcAft>
                <a:spcPts val="0"/>
              </a:spcAft>
            </a:pPr>
            <a:r>
              <a:rPr sz="1100" b="0">
                <a:solidFill>
                  <a:srgbClr val="5A7BA8"/>
                </a:solidFill>
                <a:latin typeface="Calibri"/>
              </a:rPr>
              <a:t>Role Confirmations</a:t>
            </a:r>
          </a:p>
        </p:txBody>
      </p:sp>
      <p:sp>
        <p:nvSpPr>
          <p:cNvPr id="5" name="TextBox 4"/>
          <p:cNvSpPr txBox="1"/>
          <p:nvPr/>
        </p:nvSpPr>
        <p:spPr>
          <a:xfrm>
            <a:off x="640080" y="640080"/>
            <a:ext cx="4572000" cy="548640"/>
          </a:xfrm>
          <a:prstGeom prst="rect">
            <a:avLst/>
          </a:prstGeom>
          <a:noFill/>
        </p:spPr>
        <p:txBody>
          <a:bodyPr wrap="square" lIns="0" tIns="0" rIns="0" bIns="0"/>
          <a:lstStyle/>
          <a:p>
            <a:pPr algn="l">
              <a:spcBef>
                <a:spcPts val="0"/>
              </a:spcBef>
              <a:spcAft>
                <a:spcPts val="0"/>
              </a:spcAft>
            </a:pPr>
            <a:r>
              <a:rPr sz="2400" b="1">
                <a:solidFill>
                  <a:srgbClr val="2C5294"/>
                </a:solidFill>
                <a:latin typeface="Georgia"/>
              </a:rPr>
              <a:t>Review Pending Roles</a:t>
            </a:r>
          </a:p>
        </p:txBody>
      </p:sp>
      <p:sp>
        <p:nvSpPr>
          <p:cNvPr id="6" name="TextBox 5"/>
          <p:cNvSpPr txBox="1"/>
          <p:nvPr/>
        </p:nvSpPr>
        <p:spPr>
          <a:xfrm>
            <a:off x="640080" y="1371600"/>
            <a:ext cx="4572000" cy="1645920"/>
          </a:xfrm>
          <a:prstGeom prst="rect">
            <a:avLst/>
          </a:prstGeom>
          <a:noFill/>
        </p:spPr>
        <p:txBody>
          <a:bodyPr wrap="square" lIns="0" tIns="0" rIns="0" bIns="0"/>
          <a:lstStyle/>
          <a:p>
            <a:pPr algn="l">
              <a:lnSpc>
                <a:spcPts val="2200"/>
              </a:lnSpc>
              <a:spcBef>
                <a:spcPts val="0"/>
              </a:spcBef>
              <a:spcAft>
                <a:spcPts val="0"/>
              </a:spcAft>
            </a:pPr>
            <a:r>
              <a:rPr sz="1400" b="0">
                <a:solidFill>
                  <a:srgbClr val="2C5294"/>
                </a:solidFill>
                <a:latin typeface="Calibri"/>
              </a:rPr>
              <a:t>The macro opens a Pending Role Confirmations panel. Each role shows the member's name and a color-coded status: Confirmed, Email sent, or Unable to Attend.</a:t>
            </a:r>
          </a:p>
        </p:txBody>
      </p:sp>
      <p:pic>
        <p:nvPicPr>
          <p:cNvPr id="7" name="Picture 6" descr="10-pending-roles.jpg"/>
          <p:cNvPicPr>
            <a:picLocks noChangeAspect="1"/>
          </p:cNvPicPr>
          <p:nvPr/>
        </p:nvPicPr>
        <p:blipFill>
          <a:blip r:embed="rId2"/>
          <a:stretch>
            <a:fillRect/>
          </a:stretch>
        </p:blipFill>
        <p:spPr>
          <a:xfrm>
            <a:off x="6065215" y="1542983"/>
            <a:ext cx="5486400" cy="4320673"/>
          </a:xfrm>
          <a:prstGeom prst="rect">
            <a:avLst/>
          </a:prstGeom>
        </p:spPr>
      </p:pic>
      <p:sp>
        <p:nvSpPr>
          <p:cNvPr id="8" name="TextBox 7"/>
          <p:cNvSpPr txBox="1"/>
          <p:nvPr/>
        </p:nvSpPr>
        <p:spPr>
          <a:xfrm>
            <a:off x="10515600" y="6400800"/>
            <a:ext cx="1371600" cy="365760"/>
          </a:xfrm>
          <a:prstGeom prst="rect">
            <a:avLst/>
          </a:prstGeom>
          <a:noFill/>
        </p:spPr>
        <p:txBody>
          <a:bodyPr wrap="square" lIns="0" tIns="0" rIns="0" bIns="0"/>
          <a:lstStyle/>
          <a:p>
            <a:pPr algn="r">
              <a:spcBef>
                <a:spcPts val="0"/>
              </a:spcBef>
              <a:spcAft>
                <a:spcPts val="0"/>
              </a:spcAft>
            </a:pPr>
            <a:r>
              <a:rPr sz="1000" b="0">
                <a:solidFill>
                  <a:srgbClr val="5A7BA8"/>
                </a:solidFill>
                <a:latin typeface="Calibri"/>
              </a:rPr>
              <a:t>8 / 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20040"/>
            <a:ext cx="4572000" cy="320040"/>
          </a:xfrm>
          <a:prstGeom prst="rect">
            <a:avLst/>
          </a:prstGeom>
          <a:noFill/>
        </p:spPr>
        <p:txBody>
          <a:bodyPr wrap="square" lIns="0" tIns="0" rIns="0" bIns="0"/>
          <a:lstStyle/>
          <a:p>
            <a:pPr algn="l">
              <a:spcBef>
                <a:spcPts val="0"/>
              </a:spcBef>
              <a:spcAft>
                <a:spcPts val="0"/>
              </a:spcAft>
            </a:pPr>
            <a:r>
              <a:rPr sz="1100" b="0">
                <a:solidFill>
                  <a:srgbClr val="5A7BA8"/>
                </a:solidFill>
                <a:latin typeface="Calibri"/>
              </a:rPr>
              <a:t>Role Confirmations</a:t>
            </a:r>
          </a:p>
        </p:txBody>
      </p:sp>
      <p:sp>
        <p:nvSpPr>
          <p:cNvPr id="5" name="TextBox 4"/>
          <p:cNvSpPr txBox="1"/>
          <p:nvPr/>
        </p:nvSpPr>
        <p:spPr>
          <a:xfrm>
            <a:off x="640080" y="640080"/>
            <a:ext cx="4572000" cy="548640"/>
          </a:xfrm>
          <a:prstGeom prst="rect">
            <a:avLst/>
          </a:prstGeom>
          <a:noFill/>
        </p:spPr>
        <p:txBody>
          <a:bodyPr wrap="square" lIns="0" tIns="0" rIns="0" bIns="0"/>
          <a:lstStyle/>
          <a:p>
            <a:pPr algn="l">
              <a:spcBef>
                <a:spcPts val="0"/>
              </a:spcBef>
              <a:spcAft>
                <a:spcPts val="0"/>
              </a:spcAft>
            </a:pPr>
            <a:r>
              <a:rPr sz="2400" b="1">
                <a:solidFill>
                  <a:srgbClr val="2C5294"/>
                </a:solidFill>
                <a:latin typeface="Georgia"/>
              </a:rPr>
              <a:t>Fill in Details and Send</a:t>
            </a:r>
          </a:p>
        </p:txBody>
      </p:sp>
      <p:sp>
        <p:nvSpPr>
          <p:cNvPr id="6" name="TextBox 5"/>
          <p:cNvSpPr txBox="1"/>
          <p:nvPr/>
        </p:nvSpPr>
        <p:spPr>
          <a:xfrm>
            <a:off x="640080" y="1371600"/>
            <a:ext cx="4572000" cy="1645920"/>
          </a:xfrm>
          <a:prstGeom prst="rect">
            <a:avLst/>
          </a:prstGeom>
          <a:noFill/>
        </p:spPr>
        <p:txBody>
          <a:bodyPr wrap="square" lIns="0" tIns="0" rIns="0" bIns="0"/>
          <a:lstStyle/>
          <a:p>
            <a:pPr algn="l">
              <a:lnSpc>
                <a:spcPts val="2200"/>
              </a:lnSpc>
              <a:spcBef>
                <a:spcPts val="0"/>
              </a:spcBef>
              <a:spcAft>
                <a:spcPts val="0"/>
              </a:spcAft>
            </a:pPr>
            <a:r>
              <a:rPr sz="1400" b="0">
                <a:solidFill>
                  <a:srgbClr val="2C5294"/>
                </a:solidFill>
                <a:latin typeface="Calibri"/>
              </a:rPr>
              <a:t>Set the meeting theme, format, Word of the Day, and sender. Click Send Emails to create Gmail drafts. The macro never sends directly; you review drafts first.</a:t>
            </a:r>
          </a:p>
        </p:txBody>
      </p:sp>
      <p:pic>
        <p:nvPicPr>
          <p:cNvPr id="7" name="Picture 6" descr="05-meeting-details-form.jpg"/>
          <p:cNvPicPr>
            <a:picLocks noChangeAspect="1"/>
          </p:cNvPicPr>
          <p:nvPr/>
        </p:nvPicPr>
        <p:blipFill>
          <a:blip r:embed="rId2"/>
          <a:stretch>
            <a:fillRect/>
          </a:stretch>
        </p:blipFill>
        <p:spPr>
          <a:xfrm>
            <a:off x="7496904" y="1508760"/>
            <a:ext cx="4054710" cy="4389120"/>
          </a:xfrm>
          <a:prstGeom prst="rect">
            <a:avLst/>
          </a:prstGeom>
        </p:spPr>
      </p:pic>
      <p:sp>
        <p:nvSpPr>
          <p:cNvPr id="8" name="TextBox 7"/>
          <p:cNvSpPr txBox="1"/>
          <p:nvPr/>
        </p:nvSpPr>
        <p:spPr>
          <a:xfrm>
            <a:off x="10515600" y="6400800"/>
            <a:ext cx="1371600" cy="365760"/>
          </a:xfrm>
          <a:prstGeom prst="rect">
            <a:avLst/>
          </a:prstGeom>
          <a:noFill/>
        </p:spPr>
        <p:txBody>
          <a:bodyPr wrap="square" lIns="0" tIns="0" rIns="0" bIns="0"/>
          <a:lstStyle/>
          <a:p>
            <a:pPr algn="r">
              <a:spcBef>
                <a:spcPts val="0"/>
              </a:spcBef>
              <a:spcAft>
                <a:spcPts val="0"/>
              </a:spcAft>
            </a:pPr>
            <a:r>
              <a:rPr sz="1000" b="0">
                <a:solidFill>
                  <a:srgbClr val="5A7BA8"/>
                </a:solidFill>
                <a:latin typeface="Calibri"/>
              </a:rPr>
              <a:t>9 / 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000000" cy="640080"/>
          </a:xfrm>
          <a:prstGeom prst="rect">
            <a:avLst/>
          </a:prstGeom>
          <a:noFill/>
        </p:spPr>
        <p:txBody>
          <a:bodyPr wrap="square">
            <a:spAutoFit/>
          </a:bodyPr>
          <a:lstStyle/>
          <a:p>
            <a:pPr algn="l"/>
            <a:r>
              <a:rPr sz="3600" b="1">
                <a:solidFill>
                  <a:srgbClr val="2C5294"/>
                </a:solidFill>
                <a:latin typeface="Georgia"/>
              </a:rPr>
              <a:t>Generate Meeting Agenda</a:t>
            </a:r>
          </a:p>
        </p:txBody>
      </p:sp>
      <p:sp>
        <p:nvSpPr>
          <p:cNvPr id="4" name="TextBox 3"/>
          <p:cNvSpPr txBox="1"/>
          <p:nvPr/>
        </p:nvSpPr>
        <p:spPr>
          <a:xfrm>
            <a:off x="640080" y="1097280"/>
            <a:ext cx="10000000" cy="365760"/>
          </a:xfrm>
          <a:prstGeom prst="rect">
            <a:avLst/>
          </a:prstGeom>
          <a:noFill/>
        </p:spPr>
        <p:txBody>
          <a:bodyPr wrap="square">
            <a:spAutoFit/>
          </a:bodyPr>
          <a:lstStyle/>
          <a:p>
            <a:pPr algn="l"/>
            <a:r>
              <a:rPr sz="1600" b="0">
                <a:solidFill>
                  <a:srgbClr val="5A7BA8"/>
                </a:solidFill>
                <a:latin typeface="Calibri"/>
              </a:rPr>
              <a:t>Select "Generate Meeting Agenda" from the Toastmasters menu</a:t>
            </a:r>
          </a:p>
        </p:txBody>
      </p:sp>
      <p:pic>
        <p:nvPicPr>
          <p:cNvPr id="5" name="Picture 4" descr="image.jpg"/>
          <p:cNvPicPr>
            <a:picLocks noChangeAspect="1"/>
          </p:cNvPicPr>
          <p:nvPr/>
        </p:nvPicPr>
        <p:blipFill>
          <a:blip r:embed="rId2"/>
          <a:stretch>
            <a:fillRect/>
          </a:stretch>
        </p:blipFill>
        <p:spPr>
          <a:xfrm>
            <a:off x="2300000" y="1600000"/>
            <a:ext cx="7500000" cy="4422170"/>
          </a:xfrm>
          <a:prstGeom prst="rect">
            <a:avLst/>
          </a:prstGeom>
        </p:spPr>
      </p:pic>
      <p:sp>
        <p:nvSpPr>
          <p:cNvPr id="6" name="Rectangle 5"/>
          <p:cNvSpPr/>
          <p:nvPr/>
        </p:nvSpPr>
        <p:spPr>
          <a:xfrm>
            <a:off x="5137500" y="2321768"/>
            <a:ext cx="1862500" cy="258997"/>
          </a:xfrm>
          <a:prstGeom prst="rect">
            <a:avLst/>
          </a:prstGeom>
          <a:noFill/>
          <a:ln w="38100">
            <a:solidFill>
              <a:srgbClr val="E8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20040"/>
            <a:ext cx="4572000" cy="320040"/>
          </a:xfrm>
          <a:prstGeom prst="rect">
            <a:avLst/>
          </a:prstGeom>
          <a:noFill/>
        </p:spPr>
        <p:txBody>
          <a:bodyPr wrap="square" lIns="0" tIns="0" rIns="0" bIns="0"/>
          <a:lstStyle/>
          <a:p>
            <a:pPr algn="l">
              <a:spcBef>
                <a:spcPts val="0"/>
              </a:spcBef>
              <a:spcAft>
                <a:spcPts val="0"/>
              </a:spcAft>
            </a:pPr>
            <a:r>
              <a:rPr sz="1100" b="0">
                <a:solidFill>
                  <a:srgbClr val="5A7BA8"/>
                </a:solidFill>
                <a:latin typeface="Calibri"/>
              </a:rPr>
              <a:t>Generate Agenda</a:t>
            </a:r>
          </a:p>
        </p:txBody>
      </p:sp>
      <p:sp>
        <p:nvSpPr>
          <p:cNvPr id="5" name="TextBox 4"/>
          <p:cNvSpPr txBox="1"/>
          <p:nvPr/>
        </p:nvSpPr>
        <p:spPr>
          <a:xfrm>
            <a:off x="640080" y="640080"/>
            <a:ext cx="4572000" cy="548640"/>
          </a:xfrm>
          <a:prstGeom prst="rect">
            <a:avLst/>
          </a:prstGeom>
          <a:noFill/>
        </p:spPr>
        <p:txBody>
          <a:bodyPr wrap="square" lIns="0" tIns="0" rIns="0" bIns="0"/>
          <a:lstStyle/>
          <a:p>
            <a:pPr algn="l">
              <a:spcBef>
                <a:spcPts val="0"/>
              </a:spcBef>
              <a:spcAft>
                <a:spcPts val="0"/>
              </a:spcAft>
            </a:pPr>
            <a:r>
              <a:rPr sz="2400" b="1">
                <a:solidFill>
                  <a:srgbClr val="2C5294"/>
                </a:solidFill>
                <a:latin typeface="Georgia"/>
              </a:rPr>
              <a:t>Open Generate Meeting Agenda</a:t>
            </a:r>
          </a:p>
        </p:txBody>
      </p:sp>
      <p:sp>
        <p:nvSpPr>
          <p:cNvPr id="6" name="TextBox 5"/>
          <p:cNvSpPr txBox="1"/>
          <p:nvPr/>
        </p:nvSpPr>
        <p:spPr>
          <a:xfrm>
            <a:off x="640080" y="1371600"/>
            <a:ext cx="4572000" cy="1645920"/>
          </a:xfrm>
          <a:prstGeom prst="rect">
            <a:avLst/>
          </a:prstGeom>
          <a:noFill/>
        </p:spPr>
        <p:txBody>
          <a:bodyPr wrap="square" lIns="0" tIns="0" rIns="0" bIns="0"/>
          <a:lstStyle/>
          <a:p>
            <a:pPr algn="l">
              <a:lnSpc>
                <a:spcPts val="2200"/>
              </a:lnSpc>
              <a:spcBef>
                <a:spcPts val="0"/>
              </a:spcBef>
              <a:spcAft>
                <a:spcPts val="0"/>
              </a:spcAft>
            </a:pPr>
            <a:r>
              <a:rPr sz="1400" b="0">
                <a:solidFill>
                  <a:srgbClr val="2C5294"/>
                </a:solidFill>
                <a:latin typeface="Calibri"/>
              </a:rPr>
              <a:t>Click Toastmasters, then select Generate Meeting Agenda.</a:t>
            </a:r>
          </a:p>
        </p:txBody>
      </p:sp>
      <p:pic>
        <p:nvPicPr>
          <p:cNvPr id="7" name="Picture 6" descr="02-menu-dropdown.jpg"/>
          <p:cNvPicPr>
            <a:picLocks noChangeAspect="1"/>
          </p:cNvPicPr>
          <p:nvPr/>
        </p:nvPicPr>
        <p:blipFill>
          <a:blip r:embed="rId2"/>
          <a:stretch>
            <a:fillRect/>
          </a:stretch>
        </p:blipFill>
        <p:spPr>
          <a:xfrm>
            <a:off x="6065215" y="2085867"/>
            <a:ext cx="5486400" cy="3234905"/>
          </a:xfrm>
          <a:prstGeom prst="rect">
            <a:avLst/>
          </a:prstGeom>
        </p:spPr>
      </p:pic>
      <p:sp>
        <p:nvSpPr>
          <p:cNvPr id="8" name="TextBox 7"/>
          <p:cNvSpPr txBox="1"/>
          <p:nvPr/>
        </p:nvSpPr>
        <p:spPr>
          <a:xfrm>
            <a:off x="10515600" y="6400800"/>
            <a:ext cx="1371600" cy="365760"/>
          </a:xfrm>
          <a:prstGeom prst="rect">
            <a:avLst/>
          </a:prstGeom>
          <a:noFill/>
        </p:spPr>
        <p:txBody>
          <a:bodyPr wrap="square" lIns="0" tIns="0" rIns="0" bIns="0"/>
          <a:lstStyle/>
          <a:p>
            <a:pPr algn="r">
              <a:spcBef>
                <a:spcPts val="0"/>
              </a:spcBef>
              <a:spcAft>
                <a:spcPts val="0"/>
              </a:spcAft>
            </a:pPr>
            <a:r>
              <a:rPr sz="1000" b="0">
                <a:solidFill>
                  <a:srgbClr val="5A7BA8"/>
                </a:solidFill>
                <a:latin typeface="Calibri"/>
              </a:rPr>
              <a:t>11 / 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20040"/>
            <a:ext cx="4572000" cy="320040"/>
          </a:xfrm>
          <a:prstGeom prst="rect">
            <a:avLst/>
          </a:prstGeom>
          <a:noFill/>
        </p:spPr>
        <p:txBody>
          <a:bodyPr wrap="square" lIns="0" tIns="0" rIns="0" bIns="0"/>
          <a:lstStyle/>
          <a:p>
            <a:pPr algn="l">
              <a:spcBef>
                <a:spcPts val="0"/>
              </a:spcBef>
              <a:spcAft>
                <a:spcPts val="0"/>
              </a:spcAft>
            </a:pPr>
            <a:r>
              <a:rPr sz="1100" b="0">
                <a:solidFill>
                  <a:srgbClr val="5A7BA8"/>
                </a:solidFill>
                <a:latin typeface="Calibri"/>
              </a:rPr>
              <a:t>Generate Agenda</a:t>
            </a:r>
          </a:p>
        </p:txBody>
      </p:sp>
      <p:sp>
        <p:nvSpPr>
          <p:cNvPr id="5" name="TextBox 4"/>
          <p:cNvSpPr txBox="1"/>
          <p:nvPr/>
        </p:nvSpPr>
        <p:spPr>
          <a:xfrm>
            <a:off x="640080" y="640080"/>
            <a:ext cx="4572000" cy="548640"/>
          </a:xfrm>
          <a:prstGeom prst="rect">
            <a:avLst/>
          </a:prstGeom>
          <a:noFill/>
        </p:spPr>
        <p:txBody>
          <a:bodyPr wrap="square" lIns="0" tIns="0" rIns="0" bIns="0"/>
          <a:lstStyle/>
          <a:p>
            <a:pPr algn="l">
              <a:spcBef>
                <a:spcPts val="0"/>
              </a:spcBef>
              <a:spcAft>
                <a:spcPts val="0"/>
              </a:spcAft>
            </a:pPr>
            <a:r>
              <a:rPr sz="2400" b="1">
                <a:solidFill>
                  <a:srgbClr val="2C5294"/>
                </a:solidFill>
                <a:latin typeface="Georgia"/>
              </a:rPr>
              <a:t>Pick the Meeting Date</a:t>
            </a:r>
          </a:p>
        </p:txBody>
      </p:sp>
      <p:sp>
        <p:nvSpPr>
          <p:cNvPr id="6" name="TextBox 5"/>
          <p:cNvSpPr txBox="1"/>
          <p:nvPr/>
        </p:nvSpPr>
        <p:spPr>
          <a:xfrm>
            <a:off x="640080" y="1371600"/>
            <a:ext cx="4572000" cy="1645920"/>
          </a:xfrm>
          <a:prstGeom prst="rect">
            <a:avLst/>
          </a:prstGeom>
          <a:noFill/>
        </p:spPr>
        <p:txBody>
          <a:bodyPr wrap="square" lIns="0" tIns="0" rIns="0" bIns="0"/>
          <a:lstStyle/>
          <a:p>
            <a:pPr algn="l">
              <a:lnSpc>
                <a:spcPts val="2200"/>
              </a:lnSpc>
              <a:spcBef>
                <a:spcPts val="0"/>
              </a:spcBef>
              <a:spcAft>
                <a:spcPts val="0"/>
              </a:spcAft>
            </a:pPr>
            <a:r>
              <a:rPr sz="1400" b="0">
                <a:solidFill>
                  <a:srgbClr val="2C5294"/>
                </a:solidFill>
                <a:latin typeface="Calibri"/>
              </a:rPr>
              <a:t>The same date picker appears. Select the meeting date and click OK.</a:t>
            </a:r>
          </a:p>
        </p:txBody>
      </p:sp>
      <p:pic>
        <p:nvPicPr>
          <p:cNvPr id="7" name="Picture 6" descr="04-date-picker.jpg"/>
          <p:cNvPicPr>
            <a:picLocks noChangeAspect="1"/>
          </p:cNvPicPr>
          <p:nvPr/>
        </p:nvPicPr>
        <p:blipFill>
          <a:blip r:embed="rId2"/>
          <a:stretch>
            <a:fillRect/>
          </a:stretch>
        </p:blipFill>
        <p:spPr>
          <a:xfrm>
            <a:off x="6065215" y="2246085"/>
            <a:ext cx="5486400" cy="2914468"/>
          </a:xfrm>
          <a:prstGeom prst="rect">
            <a:avLst/>
          </a:prstGeom>
        </p:spPr>
      </p:pic>
      <p:sp>
        <p:nvSpPr>
          <p:cNvPr id="8" name="TextBox 7"/>
          <p:cNvSpPr txBox="1"/>
          <p:nvPr/>
        </p:nvSpPr>
        <p:spPr>
          <a:xfrm>
            <a:off x="10515600" y="6400800"/>
            <a:ext cx="1371600" cy="365760"/>
          </a:xfrm>
          <a:prstGeom prst="rect">
            <a:avLst/>
          </a:prstGeom>
          <a:noFill/>
        </p:spPr>
        <p:txBody>
          <a:bodyPr wrap="square" lIns="0" tIns="0" rIns="0" bIns="0"/>
          <a:lstStyle/>
          <a:p>
            <a:pPr algn="r">
              <a:spcBef>
                <a:spcPts val="0"/>
              </a:spcBef>
              <a:spcAft>
                <a:spcPts val="0"/>
              </a:spcAft>
            </a:pPr>
            <a:r>
              <a:rPr sz="1000" b="0">
                <a:solidFill>
                  <a:srgbClr val="5A7BA8"/>
                </a:solidFill>
                <a:latin typeface="Calibri"/>
              </a:rPr>
              <a:t>12 / 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20040"/>
            <a:ext cx="4572000" cy="320040"/>
          </a:xfrm>
          <a:prstGeom prst="rect">
            <a:avLst/>
          </a:prstGeom>
          <a:noFill/>
        </p:spPr>
        <p:txBody>
          <a:bodyPr wrap="square" lIns="0" tIns="0" rIns="0" bIns="0"/>
          <a:lstStyle/>
          <a:p>
            <a:pPr algn="l">
              <a:spcBef>
                <a:spcPts val="0"/>
              </a:spcBef>
              <a:spcAft>
                <a:spcPts val="0"/>
              </a:spcAft>
            </a:pPr>
            <a:r>
              <a:rPr sz="1100" b="0">
                <a:solidFill>
                  <a:srgbClr val="5A7BA8"/>
                </a:solidFill>
                <a:latin typeface="Calibri"/>
              </a:rPr>
              <a:t>Generate Agenda</a:t>
            </a:r>
          </a:p>
        </p:txBody>
      </p:sp>
      <p:sp>
        <p:nvSpPr>
          <p:cNvPr id="5" name="TextBox 4"/>
          <p:cNvSpPr txBox="1"/>
          <p:nvPr/>
        </p:nvSpPr>
        <p:spPr>
          <a:xfrm>
            <a:off x="640080" y="640080"/>
            <a:ext cx="4572000" cy="548640"/>
          </a:xfrm>
          <a:prstGeom prst="rect">
            <a:avLst/>
          </a:prstGeom>
          <a:noFill/>
        </p:spPr>
        <p:txBody>
          <a:bodyPr wrap="square" lIns="0" tIns="0" rIns="0" bIns="0"/>
          <a:lstStyle/>
          <a:p>
            <a:pPr algn="l">
              <a:spcBef>
                <a:spcPts val="0"/>
              </a:spcBef>
              <a:spcAft>
                <a:spcPts val="0"/>
              </a:spcAft>
            </a:pPr>
            <a:r>
              <a:rPr sz="2400" b="1">
                <a:solidFill>
                  <a:srgbClr val="2C5294"/>
                </a:solidFill>
                <a:latin typeface="Georgia"/>
              </a:rPr>
              <a:t>Enter the Word of the Day</a:t>
            </a:r>
          </a:p>
        </p:txBody>
      </p:sp>
      <p:sp>
        <p:nvSpPr>
          <p:cNvPr id="6" name="TextBox 5"/>
          <p:cNvSpPr txBox="1"/>
          <p:nvPr/>
        </p:nvSpPr>
        <p:spPr>
          <a:xfrm>
            <a:off x="640080" y="1371600"/>
            <a:ext cx="4572000" cy="1645920"/>
          </a:xfrm>
          <a:prstGeom prst="rect">
            <a:avLst/>
          </a:prstGeom>
          <a:noFill/>
        </p:spPr>
        <p:txBody>
          <a:bodyPr wrap="square" lIns="0" tIns="0" rIns="0" bIns="0"/>
          <a:lstStyle/>
          <a:p>
            <a:pPr algn="l">
              <a:lnSpc>
                <a:spcPts val="2200"/>
              </a:lnSpc>
              <a:spcBef>
                <a:spcPts val="0"/>
              </a:spcBef>
              <a:spcAft>
                <a:spcPts val="0"/>
              </a:spcAft>
            </a:pPr>
            <a:r>
              <a:rPr sz="1400" b="0">
                <a:solidFill>
                  <a:srgbClr val="2C5294"/>
                </a:solidFill>
                <a:latin typeface="Calibri"/>
              </a:rPr>
              <a:t>A dialog asks you to type in the Word of the Day.</a:t>
            </a:r>
          </a:p>
        </p:txBody>
      </p:sp>
      <p:pic>
        <p:nvPicPr>
          <p:cNvPr id="7" name="Picture 6" descr="08-wod-input.jpg"/>
          <p:cNvPicPr>
            <a:picLocks noChangeAspect="1"/>
          </p:cNvPicPr>
          <p:nvPr/>
        </p:nvPicPr>
        <p:blipFill>
          <a:blip r:embed="rId2"/>
          <a:stretch>
            <a:fillRect/>
          </a:stretch>
        </p:blipFill>
        <p:spPr>
          <a:xfrm>
            <a:off x="6065215" y="1575067"/>
            <a:ext cx="5486400" cy="4256505"/>
          </a:xfrm>
          <a:prstGeom prst="rect">
            <a:avLst/>
          </a:prstGeom>
        </p:spPr>
      </p:pic>
      <p:sp>
        <p:nvSpPr>
          <p:cNvPr id="8" name="TextBox 7"/>
          <p:cNvSpPr txBox="1"/>
          <p:nvPr/>
        </p:nvSpPr>
        <p:spPr>
          <a:xfrm>
            <a:off x="10515600" y="6400800"/>
            <a:ext cx="1371600" cy="365760"/>
          </a:xfrm>
          <a:prstGeom prst="rect">
            <a:avLst/>
          </a:prstGeom>
          <a:noFill/>
        </p:spPr>
        <p:txBody>
          <a:bodyPr wrap="square" lIns="0" tIns="0" rIns="0" bIns="0"/>
          <a:lstStyle/>
          <a:p>
            <a:pPr algn="r">
              <a:spcBef>
                <a:spcPts val="0"/>
              </a:spcBef>
              <a:spcAft>
                <a:spcPts val="0"/>
              </a:spcAft>
            </a:pPr>
            <a:r>
              <a:rPr sz="1000" b="0">
                <a:solidFill>
                  <a:srgbClr val="5A7BA8"/>
                </a:solidFill>
                <a:latin typeface="Calibri"/>
              </a:rPr>
              <a:t>13 / 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20040"/>
            <a:ext cx="4572000" cy="320040"/>
          </a:xfrm>
          <a:prstGeom prst="rect">
            <a:avLst/>
          </a:prstGeom>
          <a:noFill/>
        </p:spPr>
        <p:txBody>
          <a:bodyPr wrap="square" lIns="0" tIns="0" rIns="0" bIns="0"/>
          <a:lstStyle/>
          <a:p>
            <a:pPr algn="l">
              <a:spcBef>
                <a:spcPts val="0"/>
              </a:spcBef>
              <a:spcAft>
                <a:spcPts val="0"/>
              </a:spcAft>
            </a:pPr>
            <a:r>
              <a:rPr sz="1100" b="0">
                <a:solidFill>
                  <a:srgbClr val="5A7BA8"/>
                </a:solidFill>
                <a:latin typeface="Calibri"/>
              </a:rPr>
              <a:t>Generate Agenda</a:t>
            </a:r>
          </a:p>
        </p:txBody>
      </p:sp>
      <p:sp>
        <p:nvSpPr>
          <p:cNvPr id="5" name="TextBox 4"/>
          <p:cNvSpPr txBox="1"/>
          <p:nvPr/>
        </p:nvSpPr>
        <p:spPr>
          <a:xfrm>
            <a:off x="640080" y="640080"/>
            <a:ext cx="4572000" cy="548640"/>
          </a:xfrm>
          <a:prstGeom prst="rect">
            <a:avLst/>
          </a:prstGeom>
          <a:noFill/>
        </p:spPr>
        <p:txBody>
          <a:bodyPr wrap="square" lIns="0" tIns="0" rIns="0" bIns="0"/>
          <a:lstStyle/>
          <a:p>
            <a:pPr algn="l">
              <a:spcBef>
                <a:spcPts val="0"/>
              </a:spcBef>
              <a:spcAft>
                <a:spcPts val="0"/>
              </a:spcAft>
            </a:pPr>
            <a:r>
              <a:rPr sz="2400" b="1">
                <a:solidFill>
                  <a:srgbClr val="2C5294"/>
                </a:solidFill>
                <a:latin typeface="Georgia"/>
              </a:rPr>
              <a:t>Pick a Definition</a:t>
            </a:r>
          </a:p>
        </p:txBody>
      </p:sp>
      <p:sp>
        <p:nvSpPr>
          <p:cNvPr id="6" name="TextBox 5"/>
          <p:cNvSpPr txBox="1"/>
          <p:nvPr/>
        </p:nvSpPr>
        <p:spPr>
          <a:xfrm>
            <a:off x="640080" y="1371600"/>
            <a:ext cx="4572000" cy="1645920"/>
          </a:xfrm>
          <a:prstGeom prst="rect">
            <a:avLst/>
          </a:prstGeom>
          <a:noFill/>
        </p:spPr>
        <p:txBody>
          <a:bodyPr wrap="square" lIns="0" tIns="0" rIns="0" bIns="0"/>
          <a:lstStyle/>
          <a:p>
            <a:pPr algn="l">
              <a:lnSpc>
                <a:spcPts val="2200"/>
              </a:lnSpc>
              <a:spcBef>
                <a:spcPts val="0"/>
              </a:spcBef>
              <a:spcAft>
                <a:spcPts val="0"/>
              </a:spcAft>
            </a:pPr>
            <a:r>
              <a:rPr sz="1400" b="0">
                <a:solidFill>
                  <a:srgbClr val="2C5294"/>
                </a:solidFill>
                <a:latin typeface="Calibri"/>
              </a:rPr>
              <a:t>The macro looks up your word and offers definition options. Pick the one you like best.</a:t>
            </a:r>
          </a:p>
        </p:txBody>
      </p:sp>
      <p:pic>
        <p:nvPicPr>
          <p:cNvPr id="7" name="Picture 6" descr="09-wod-picker.jpg"/>
          <p:cNvPicPr>
            <a:picLocks noChangeAspect="1"/>
          </p:cNvPicPr>
          <p:nvPr/>
        </p:nvPicPr>
        <p:blipFill>
          <a:blip r:embed="rId2"/>
          <a:stretch>
            <a:fillRect/>
          </a:stretch>
        </p:blipFill>
        <p:spPr>
          <a:xfrm>
            <a:off x="7867103" y="1508760"/>
            <a:ext cx="3684512" cy="4389120"/>
          </a:xfrm>
          <a:prstGeom prst="rect">
            <a:avLst/>
          </a:prstGeom>
        </p:spPr>
      </p:pic>
      <p:sp>
        <p:nvSpPr>
          <p:cNvPr id="8" name="TextBox 7"/>
          <p:cNvSpPr txBox="1"/>
          <p:nvPr/>
        </p:nvSpPr>
        <p:spPr>
          <a:xfrm>
            <a:off x="10515600" y="6400800"/>
            <a:ext cx="1371600" cy="365760"/>
          </a:xfrm>
          <a:prstGeom prst="rect">
            <a:avLst/>
          </a:prstGeom>
          <a:noFill/>
        </p:spPr>
        <p:txBody>
          <a:bodyPr wrap="square" lIns="0" tIns="0" rIns="0" bIns="0"/>
          <a:lstStyle/>
          <a:p>
            <a:pPr algn="r">
              <a:spcBef>
                <a:spcPts val="0"/>
              </a:spcBef>
              <a:spcAft>
                <a:spcPts val="0"/>
              </a:spcAft>
            </a:pPr>
            <a:r>
              <a:rPr sz="1000" b="0">
                <a:solidFill>
                  <a:srgbClr val="5A7BA8"/>
                </a:solidFill>
                <a:latin typeface="Calibri"/>
              </a:rPr>
              <a:t>14 / 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20040"/>
            <a:ext cx="4572000" cy="320040"/>
          </a:xfrm>
          <a:prstGeom prst="rect">
            <a:avLst/>
          </a:prstGeom>
          <a:noFill/>
        </p:spPr>
        <p:txBody>
          <a:bodyPr wrap="square" lIns="0" tIns="0" rIns="0" bIns="0"/>
          <a:lstStyle/>
          <a:p>
            <a:pPr algn="l">
              <a:spcBef>
                <a:spcPts val="0"/>
              </a:spcBef>
              <a:spcAft>
                <a:spcPts val="0"/>
              </a:spcAft>
            </a:pPr>
            <a:r>
              <a:rPr sz="1100" b="0">
                <a:solidFill>
                  <a:srgbClr val="5A7BA8"/>
                </a:solidFill>
                <a:latin typeface="Calibri"/>
              </a:rPr>
              <a:t>Generate Agenda</a:t>
            </a:r>
          </a:p>
        </p:txBody>
      </p:sp>
      <p:sp>
        <p:nvSpPr>
          <p:cNvPr id="5" name="TextBox 4"/>
          <p:cNvSpPr txBox="1"/>
          <p:nvPr/>
        </p:nvSpPr>
        <p:spPr>
          <a:xfrm>
            <a:off x="640080" y="640080"/>
            <a:ext cx="4572000" cy="548640"/>
          </a:xfrm>
          <a:prstGeom prst="rect">
            <a:avLst/>
          </a:prstGeom>
          <a:noFill/>
        </p:spPr>
        <p:txBody>
          <a:bodyPr wrap="square" lIns="0" tIns="0" rIns="0" bIns="0"/>
          <a:lstStyle/>
          <a:p>
            <a:pPr algn="l">
              <a:spcBef>
                <a:spcPts val="0"/>
              </a:spcBef>
              <a:spcAft>
                <a:spcPts val="0"/>
              </a:spcAft>
            </a:pPr>
            <a:r>
              <a:rPr sz="2400" b="1">
                <a:solidFill>
                  <a:srgbClr val="2C5294"/>
                </a:solidFill>
                <a:latin typeface="Georgia"/>
              </a:rPr>
              <a:t>Confirm Prepared Speeches</a:t>
            </a:r>
          </a:p>
        </p:txBody>
      </p:sp>
      <p:sp>
        <p:nvSpPr>
          <p:cNvPr id="6" name="TextBox 5"/>
          <p:cNvSpPr txBox="1"/>
          <p:nvPr/>
        </p:nvSpPr>
        <p:spPr>
          <a:xfrm>
            <a:off x="640080" y="1371600"/>
            <a:ext cx="4572000" cy="1645920"/>
          </a:xfrm>
          <a:prstGeom prst="rect">
            <a:avLst/>
          </a:prstGeom>
          <a:noFill/>
        </p:spPr>
        <p:txBody>
          <a:bodyPr wrap="square" lIns="0" tIns="0" rIns="0" bIns="0"/>
          <a:lstStyle/>
          <a:p>
            <a:pPr algn="l">
              <a:lnSpc>
                <a:spcPts val="2200"/>
              </a:lnSpc>
              <a:spcBef>
                <a:spcPts val="0"/>
              </a:spcBef>
              <a:spcAft>
                <a:spcPts val="0"/>
              </a:spcAft>
            </a:pPr>
            <a:r>
              <a:rPr sz="1400" b="0">
                <a:solidFill>
                  <a:srgbClr val="2C5294"/>
                </a:solidFill>
                <a:latin typeface="Calibri"/>
              </a:rPr>
              <a:t>The macro shows speakers for this meeting. Uncheck any speech that is not happening, then click Continue.</a:t>
            </a:r>
          </a:p>
        </p:txBody>
      </p:sp>
      <p:pic>
        <p:nvPicPr>
          <p:cNvPr id="7" name="Picture 6" descr="10-speech-confirmation.jpg"/>
          <p:cNvPicPr>
            <a:picLocks noChangeAspect="1"/>
          </p:cNvPicPr>
          <p:nvPr/>
        </p:nvPicPr>
        <p:blipFill>
          <a:blip r:embed="rId2"/>
          <a:stretch>
            <a:fillRect/>
          </a:stretch>
        </p:blipFill>
        <p:spPr>
          <a:xfrm>
            <a:off x="6065215" y="1554907"/>
            <a:ext cx="5486400" cy="4296825"/>
          </a:xfrm>
          <a:prstGeom prst="rect">
            <a:avLst/>
          </a:prstGeom>
        </p:spPr>
      </p:pic>
      <p:sp>
        <p:nvSpPr>
          <p:cNvPr id="8" name="TextBox 7"/>
          <p:cNvSpPr txBox="1"/>
          <p:nvPr/>
        </p:nvSpPr>
        <p:spPr>
          <a:xfrm>
            <a:off x="10515600" y="6400800"/>
            <a:ext cx="1371600" cy="365760"/>
          </a:xfrm>
          <a:prstGeom prst="rect">
            <a:avLst/>
          </a:prstGeom>
          <a:noFill/>
        </p:spPr>
        <p:txBody>
          <a:bodyPr wrap="square" lIns="0" tIns="0" rIns="0" bIns="0"/>
          <a:lstStyle/>
          <a:p>
            <a:pPr algn="r">
              <a:spcBef>
                <a:spcPts val="0"/>
              </a:spcBef>
              <a:spcAft>
                <a:spcPts val="0"/>
              </a:spcAft>
            </a:pPr>
            <a:r>
              <a:rPr sz="1000" b="0">
                <a:solidFill>
                  <a:srgbClr val="5A7BA8"/>
                </a:solidFill>
                <a:latin typeface="Calibri"/>
              </a:rPr>
              <a:t>15 / 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20040"/>
            <a:ext cx="4572000" cy="320040"/>
          </a:xfrm>
          <a:prstGeom prst="rect">
            <a:avLst/>
          </a:prstGeom>
          <a:noFill/>
        </p:spPr>
        <p:txBody>
          <a:bodyPr wrap="square" lIns="0" tIns="0" rIns="0" bIns="0"/>
          <a:lstStyle/>
          <a:p>
            <a:pPr algn="l">
              <a:spcBef>
                <a:spcPts val="0"/>
              </a:spcBef>
              <a:spcAft>
                <a:spcPts val="0"/>
              </a:spcAft>
            </a:pPr>
            <a:r>
              <a:rPr sz="1100" b="0">
                <a:solidFill>
                  <a:srgbClr val="5A7BA8"/>
                </a:solidFill>
                <a:latin typeface="Calibri"/>
              </a:rPr>
              <a:t>Generate Agenda</a:t>
            </a:r>
          </a:p>
        </p:txBody>
      </p:sp>
      <p:sp>
        <p:nvSpPr>
          <p:cNvPr id="5" name="TextBox 4"/>
          <p:cNvSpPr txBox="1"/>
          <p:nvPr/>
        </p:nvSpPr>
        <p:spPr>
          <a:xfrm>
            <a:off x="640080" y="640080"/>
            <a:ext cx="4572000" cy="548640"/>
          </a:xfrm>
          <a:prstGeom prst="rect">
            <a:avLst/>
          </a:prstGeom>
          <a:noFill/>
        </p:spPr>
        <p:txBody>
          <a:bodyPr wrap="square" lIns="0" tIns="0" rIns="0" bIns="0"/>
          <a:lstStyle/>
          <a:p>
            <a:pPr algn="l">
              <a:spcBef>
                <a:spcPts val="0"/>
              </a:spcBef>
              <a:spcAft>
                <a:spcPts val="0"/>
              </a:spcAft>
            </a:pPr>
            <a:r>
              <a:rPr sz="2400" b="1">
                <a:solidFill>
                  <a:srgbClr val="2C5294"/>
                </a:solidFill>
                <a:latin typeface="Georgia"/>
              </a:rPr>
              <a:t>Confirm Evaluators</a:t>
            </a:r>
          </a:p>
        </p:txBody>
      </p:sp>
      <p:sp>
        <p:nvSpPr>
          <p:cNvPr id="6" name="TextBox 5"/>
          <p:cNvSpPr txBox="1"/>
          <p:nvPr/>
        </p:nvSpPr>
        <p:spPr>
          <a:xfrm>
            <a:off x="640080" y="1371600"/>
            <a:ext cx="4572000" cy="1645920"/>
          </a:xfrm>
          <a:prstGeom prst="rect">
            <a:avLst/>
          </a:prstGeom>
          <a:noFill/>
        </p:spPr>
        <p:txBody>
          <a:bodyPr wrap="square" lIns="0" tIns="0" rIns="0" bIns="0"/>
          <a:lstStyle/>
          <a:p>
            <a:pPr algn="l">
              <a:lnSpc>
                <a:spcPts val="2200"/>
              </a:lnSpc>
              <a:spcBef>
                <a:spcPts val="0"/>
              </a:spcBef>
              <a:spcAft>
                <a:spcPts val="0"/>
              </a:spcAft>
            </a:pPr>
            <a:r>
              <a:rPr sz="1400" b="0">
                <a:solidFill>
                  <a:srgbClr val="2C5294"/>
                </a:solidFill>
                <a:latin typeface="Calibri"/>
              </a:rPr>
              <a:t>Confirm the evaluator assignments. The macro pairs each speaker with their assigned evaluator.</a:t>
            </a:r>
          </a:p>
        </p:txBody>
      </p:sp>
      <p:pic>
        <p:nvPicPr>
          <p:cNvPr id="7" name="Picture 6" descr="11-a-evaluator-confirmation.jpg"/>
          <p:cNvPicPr>
            <a:picLocks noChangeAspect="1"/>
          </p:cNvPicPr>
          <p:nvPr/>
        </p:nvPicPr>
        <p:blipFill>
          <a:blip r:embed="rId2"/>
          <a:stretch>
            <a:fillRect/>
          </a:stretch>
        </p:blipFill>
        <p:spPr>
          <a:xfrm>
            <a:off x="6065215" y="1633793"/>
            <a:ext cx="5486400" cy="4139052"/>
          </a:xfrm>
          <a:prstGeom prst="rect">
            <a:avLst/>
          </a:prstGeom>
        </p:spPr>
      </p:pic>
      <p:sp>
        <p:nvSpPr>
          <p:cNvPr id="8" name="TextBox 7"/>
          <p:cNvSpPr txBox="1"/>
          <p:nvPr/>
        </p:nvSpPr>
        <p:spPr>
          <a:xfrm>
            <a:off x="10515600" y="6400800"/>
            <a:ext cx="1371600" cy="365760"/>
          </a:xfrm>
          <a:prstGeom prst="rect">
            <a:avLst/>
          </a:prstGeom>
          <a:noFill/>
        </p:spPr>
        <p:txBody>
          <a:bodyPr wrap="square" lIns="0" tIns="0" rIns="0" bIns="0"/>
          <a:lstStyle/>
          <a:p>
            <a:pPr algn="r">
              <a:spcBef>
                <a:spcPts val="0"/>
              </a:spcBef>
              <a:spcAft>
                <a:spcPts val="0"/>
              </a:spcAft>
            </a:pPr>
            <a:r>
              <a:rPr sz="1000" b="0">
                <a:solidFill>
                  <a:srgbClr val="5A7BA8"/>
                </a:solidFill>
                <a:latin typeface="Calibri"/>
              </a:rPr>
              <a:t>16 / 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20040"/>
            <a:ext cx="4572000" cy="320040"/>
          </a:xfrm>
          <a:prstGeom prst="rect">
            <a:avLst/>
          </a:prstGeom>
          <a:noFill/>
        </p:spPr>
        <p:txBody>
          <a:bodyPr wrap="square" lIns="0" tIns="0" rIns="0" bIns="0"/>
          <a:lstStyle/>
          <a:p>
            <a:pPr algn="l">
              <a:spcBef>
                <a:spcPts val="0"/>
              </a:spcBef>
              <a:spcAft>
                <a:spcPts val="0"/>
              </a:spcAft>
            </a:pPr>
            <a:r>
              <a:rPr sz="1100" b="0">
                <a:solidFill>
                  <a:srgbClr val="5A7BA8"/>
                </a:solidFill>
                <a:latin typeface="Calibri"/>
              </a:rPr>
              <a:t>Generate Agenda</a:t>
            </a:r>
          </a:p>
        </p:txBody>
      </p:sp>
      <p:sp>
        <p:nvSpPr>
          <p:cNvPr id="5" name="TextBox 4"/>
          <p:cNvSpPr txBox="1"/>
          <p:nvPr/>
        </p:nvSpPr>
        <p:spPr>
          <a:xfrm>
            <a:off x="640080" y="640080"/>
            <a:ext cx="4572000" cy="548640"/>
          </a:xfrm>
          <a:prstGeom prst="rect">
            <a:avLst/>
          </a:prstGeom>
          <a:noFill/>
        </p:spPr>
        <p:txBody>
          <a:bodyPr wrap="square" lIns="0" tIns="0" rIns="0" bIns="0"/>
          <a:lstStyle/>
          <a:p>
            <a:pPr algn="l">
              <a:spcBef>
                <a:spcPts val="0"/>
              </a:spcBef>
              <a:spcAft>
                <a:spcPts val="0"/>
              </a:spcAft>
            </a:pPr>
            <a:r>
              <a:rPr sz="2400" b="1">
                <a:solidFill>
                  <a:srgbClr val="2C5294"/>
                </a:solidFill>
                <a:latin typeface="Georgia"/>
              </a:rPr>
              <a:t>Agenda Generation in Progress</a:t>
            </a:r>
          </a:p>
        </p:txBody>
      </p:sp>
      <p:sp>
        <p:nvSpPr>
          <p:cNvPr id="6" name="TextBox 5"/>
          <p:cNvSpPr txBox="1"/>
          <p:nvPr/>
        </p:nvSpPr>
        <p:spPr>
          <a:xfrm>
            <a:off x="640080" y="1371600"/>
            <a:ext cx="4572000" cy="3845920"/>
          </a:xfrm>
          <a:prstGeom prst="rect">
            <a:avLst/>
          </a:prstGeom>
          <a:noFill/>
        </p:spPr>
        <p:txBody>
          <a:bodyPr wrap="square" lIns="0" tIns="0" rIns="0" bIns="0"/>
          <a:lstStyle/>
          <a:p>
            <a:pPr algn="l">
              <a:lnSpc>
                <a:spcPts val="2200"/>
              </a:lnSpc>
              <a:spcBef>
                <a:spcPts val="0"/>
              </a:spcBef>
              <a:spcAft>
                <a:spcPts val="0"/>
              </a:spcAft>
            </a:pPr>
            <a:r>
              <a:rPr sz="1400" b="0">
                <a:solidFill>
                  <a:srgbClr val="2C5294"/>
                </a:solidFill>
                <a:latin typeface="Calibri"/>
              </a:rPr>
              <a:t>The macro builds the agenda document. Before generating, it can scan your Gmail inbox for emails from speakers about their upcoming speeches.</a:t>
            </a:r>
          </a:p>
          <a:p>
            <a:pPr algn="l">
              <a:lnSpc>
                <a:spcPts val="2200"/>
              </a:lnSpc>
              <a:spcBef>
                <a:spcPts val="0"/>
              </a:spcBef>
              <a:spcAft>
                <a:spcPts val="0"/>
              </a:spcAft>
            </a:pPr>
            <a:endParaRPr sz="1400" b="0">
              <a:solidFill>
                <a:srgbClr val="2C5294"/>
              </a:solidFill>
              <a:latin typeface="Calibri"/>
            </a:endParaRPr>
          </a:p>
          <a:p>
            <a:pPr algn="l">
              <a:lnSpc>
                <a:spcPts val="2200"/>
              </a:lnSpc>
              <a:spcBef>
                <a:spcPts val="0"/>
              </a:spcBef>
              <a:spcAft>
                <a:spcPts val="0"/>
              </a:spcAft>
            </a:pPr>
            <a:r>
              <a:rPr sz="1400" b="0">
                <a:solidFill>
                  <a:srgbClr val="2C5294"/>
                </a:solidFill>
                <a:latin typeface="Calibri"/>
              </a:rPr>
              <a:t>This helps auto-populate speech titles, pathway levels, and other details so you do not have to type them in manually.</a:t>
            </a:r>
          </a:p>
          <a:p>
            <a:pPr algn="l">
              <a:lnSpc>
                <a:spcPts val="2200"/>
              </a:lnSpc>
              <a:spcBef>
                <a:spcPts val="0"/>
              </a:spcBef>
              <a:spcAft>
                <a:spcPts val="0"/>
              </a:spcAft>
            </a:pPr>
            <a:endParaRPr sz="1400" b="0">
              <a:solidFill>
                <a:srgbClr val="2C5294"/>
              </a:solidFill>
              <a:latin typeface="Calibri"/>
            </a:endParaRPr>
          </a:p>
          <a:p>
            <a:pPr algn="l">
              <a:lnSpc>
                <a:spcPts val="2200"/>
              </a:lnSpc>
              <a:spcBef>
                <a:spcPts val="0"/>
              </a:spcBef>
              <a:spcAft>
                <a:spcPts val="0"/>
              </a:spcAft>
            </a:pPr>
            <a:r>
              <a:rPr sz="1400" b="0">
                <a:solidFill>
                  <a:srgbClr val="2C5294"/>
                </a:solidFill>
                <a:latin typeface="Calibri"/>
              </a:rPr>
              <a:t>If no relevant emails are found, the macro simply proceeds with whatever information is already in the schedule sheet.</a:t>
            </a:r>
          </a:p>
          <a:p>
            <a:pPr algn="l">
              <a:lnSpc>
                <a:spcPts val="2200"/>
              </a:lnSpc>
              <a:spcBef>
                <a:spcPts val="0"/>
              </a:spcBef>
              <a:spcAft>
                <a:spcPts val="0"/>
              </a:spcAft>
            </a:pPr>
            <a:endParaRPr sz="1400" b="0">
              <a:solidFill>
                <a:srgbClr val="2C5294"/>
              </a:solidFill>
              <a:latin typeface="Calibri"/>
            </a:endParaRPr>
          </a:p>
          <a:p>
            <a:pPr algn="l">
              <a:lnSpc>
                <a:spcPts val="2200"/>
              </a:lnSpc>
              <a:spcBef>
                <a:spcPts val="0"/>
              </a:spcBef>
              <a:spcAft>
                <a:spcPts val="0"/>
              </a:spcAft>
            </a:pPr>
            <a:r>
              <a:rPr sz="1400" b="0">
                <a:solidFill>
                  <a:srgbClr val="2C5294"/>
                </a:solidFill>
                <a:latin typeface="Calibri"/>
              </a:rPr>
              <a:t>This step saves time compared to manually entering each speaker's details before generating the agenda.</a:t>
            </a:r>
          </a:p>
        </p:txBody>
      </p:sp>
      <p:pic>
        <p:nvPicPr>
          <p:cNvPr id="7" name="Picture 6" descr="11-b-generate-agenda.jpg"/>
          <p:cNvPicPr>
            <a:picLocks noChangeAspect="1"/>
          </p:cNvPicPr>
          <p:nvPr/>
        </p:nvPicPr>
        <p:blipFill>
          <a:blip r:embed="rId2"/>
          <a:stretch>
            <a:fillRect/>
          </a:stretch>
        </p:blipFill>
        <p:spPr>
          <a:xfrm>
            <a:off x="6065215" y="1805768"/>
            <a:ext cx="5486400" cy="3795103"/>
          </a:xfrm>
          <a:prstGeom prst="rect">
            <a:avLst/>
          </a:prstGeom>
        </p:spPr>
      </p:pic>
      <p:sp>
        <p:nvSpPr>
          <p:cNvPr id="8" name="TextBox 7"/>
          <p:cNvSpPr txBox="1"/>
          <p:nvPr/>
        </p:nvSpPr>
        <p:spPr>
          <a:xfrm>
            <a:off x="10515600" y="6400800"/>
            <a:ext cx="1371600" cy="365760"/>
          </a:xfrm>
          <a:prstGeom prst="rect">
            <a:avLst/>
          </a:prstGeom>
          <a:noFill/>
        </p:spPr>
        <p:txBody>
          <a:bodyPr wrap="square" lIns="0" tIns="0" rIns="0" bIns="0"/>
          <a:lstStyle/>
          <a:p>
            <a:pPr algn="r">
              <a:spcBef>
                <a:spcPts val="0"/>
              </a:spcBef>
              <a:spcAft>
                <a:spcPts val="0"/>
              </a:spcAft>
            </a:pPr>
            <a:r>
              <a:rPr sz="1000" b="0">
                <a:solidFill>
                  <a:srgbClr val="5A7BA8"/>
                </a:solidFill>
                <a:latin typeface="Calibri"/>
              </a:rPr>
              <a:t>17 / 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20040"/>
            <a:ext cx="4572000" cy="320040"/>
          </a:xfrm>
          <a:prstGeom prst="rect">
            <a:avLst/>
          </a:prstGeom>
          <a:noFill/>
        </p:spPr>
        <p:txBody>
          <a:bodyPr wrap="square" lIns="0" tIns="0" rIns="0" bIns="0"/>
          <a:lstStyle/>
          <a:p>
            <a:pPr algn="l">
              <a:spcBef>
                <a:spcPts val="0"/>
              </a:spcBef>
              <a:spcAft>
                <a:spcPts val="0"/>
              </a:spcAft>
            </a:pPr>
            <a:r>
              <a:rPr sz="1100" b="0">
                <a:solidFill>
                  <a:srgbClr val="5A7BA8"/>
                </a:solidFill>
                <a:latin typeface="Calibri"/>
              </a:rPr>
              <a:t>Generate Agenda</a:t>
            </a:r>
          </a:p>
        </p:txBody>
      </p:sp>
      <p:sp>
        <p:nvSpPr>
          <p:cNvPr id="5" name="TextBox 4"/>
          <p:cNvSpPr txBox="1"/>
          <p:nvPr/>
        </p:nvSpPr>
        <p:spPr>
          <a:xfrm>
            <a:off x="640080" y="640080"/>
            <a:ext cx="4572000" cy="548640"/>
          </a:xfrm>
          <a:prstGeom prst="rect">
            <a:avLst/>
          </a:prstGeom>
          <a:noFill/>
        </p:spPr>
        <p:txBody>
          <a:bodyPr wrap="square" lIns="0" tIns="0" rIns="0" bIns="0"/>
          <a:lstStyle/>
          <a:p>
            <a:pPr algn="l">
              <a:spcBef>
                <a:spcPts val="0"/>
              </a:spcBef>
              <a:spcAft>
                <a:spcPts val="0"/>
              </a:spcAft>
            </a:pPr>
            <a:r>
              <a:rPr sz="2400" b="1">
                <a:solidFill>
                  <a:srgbClr val="2C5294"/>
                </a:solidFill>
                <a:latin typeface="Georgia"/>
              </a:rPr>
              <a:t>Get the Agenda Link</a:t>
            </a:r>
          </a:p>
        </p:txBody>
      </p:sp>
      <p:sp>
        <p:nvSpPr>
          <p:cNvPr id="6" name="TextBox 5"/>
          <p:cNvSpPr txBox="1"/>
          <p:nvPr/>
        </p:nvSpPr>
        <p:spPr>
          <a:xfrm>
            <a:off x="640080" y="1371600"/>
            <a:ext cx="4572000" cy="1645920"/>
          </a:xfrm>
          <a:prstGeom prst="rect">
            <a:avLst/>
          </a:prstGeom>
          <a:noFill/>
        </p:spPr>
        <p:txBody>
          <a:bodyPr wrap="square" lIns="0" tIns="0" rIns="0" bIns="0"/>
          <a:lstStyle/>
          <a:p>
            <a:pPr algn="l">
              <a:lnSpc>
                <a:spcPts val="2200"/>
              </a:lnSpc>
              <a:spcBef>
                <a:spcPts val="0"/>
              </a:spcBef>
              <a:spcAft>
                <a:spcPts val="0"/>
              </a:spcAft>
            </a:pPr>
            <a:r>
              <a:rPr sz="1400" b="0">
                <a:solidFill>
                  <a:srgbClr val="2C5294"/>
                </a:solidFill>
                <a:latin typeface="Calibri"/>
              </a:rPr>
              <a:t>When the agenda is ready, a popup shows you the link. Click it to review your agenda. The link is automatically saved and will pre-fill in the club email dialog later.</a:t>
            </a:r>
          </a:p>
        </p:txBody>
      </p:sp>
      <p:pic>
        <p:nvPicPr>
          <p:cNvPr id="7" name="Picture 6" descr="11-c-agenda-link.jpg"/>
          <p:cNvPicPr>
            <a:picLocks noChangeAspect="1"/>
          </p:cNvPicPr>
          <p:nvPr/>
        </p:nvPicPr>
        <p:blipFill>
          <a:blip r:embed="rId2"/>
          <a:stretch>
            <a:fillRect/>
          </a:stretch>
        </p:blipFill>
        <p:spPr>
          <a:xfrm>
            <a:off x="6065215" y="2381187"/>
            <a:ext cx="5486400" cy="2644264"/>
          </a:xfrm>
          <a:prstGeom prst="rect">
            <a:avLst/>
          </a:prstGeom>
        </p:spPr>
      </p:pic>
      <p:sp>
        <p:nvSpPr>
          <p:cNvPr id="8" name="TextBox 7"/>
          <p:cNvSpPr txBox="1"/>
          <p:nvPr/>
        </p:nvSpPr>
        <p:spPr>
          <a:xfrm>
            <a:off x="10515600" y="6400800"/>
            <a:ext cx="1371600" cy="365760"/>
          </a:xfrm>
          <a:prstGeom prst="rect">
            <a:avLst/>
          </a:prstGeom>
          <a:noFill/>
        </p:spPr>
        <p:txBody>
          <a:bodyPr wrap="square" lIns="0" tIns="0" rIns="0" bIns="0"/>
          <a:lstStyle/>
          <a:p>
            <a:pPr algn="r">
              <a:spcBef>
                <a:spcPts val="0"/>
              </a:spcBef>
              <a:spcAft>
                <a:spcPts val="0"/>
              </a:spcAft>
            </a:pPr>
            <a:r>
              <a:rPr sz="1000" b="0">
                <a:solidFill>
                  <a:srgbClr val="5A7BA8"/>
                </a:solidFill>
                <a:latin typeface="Calibri"/>
              </a:rPr>
              <a:t>18 / 26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20040"/>
            <a:ext cx="4572000" cy="320040"/>
          </a:xfrm>
          <a:prstGeom prst="rect">
            <a:avLst/>
          </a:prstGeom>
          <a:noFill/>
        </p:spPr>
        <p:txBody>
          <a:bodyPr wrap="square" lIns="0" tIns="0" rIns="0" bIns="0"/>
          <a:lstStyle/>
          <a:p>
            <a:pPr algn="l">
              <a:spcBef>
                <a:spcPts val="0"/>
              </a:spcBef>
              <a:spcAft>
                <a:spcPts val="0"/>
              </a:spcAft>
            </a:pPr>
            <a:r>
              <a:rPr sz="1100" b="0">
                <a:solidFill>
                  <a:srgbClr val="5A7BA8"/>
                </a:solidFill>
                <a:latin typeface="Calibri"/>
              </a:rPr>
              <a:t>Generate Agenda</a:t>
            </a:r>
          </a:p>
        </p:txBody>
      </p:sp>
      <p:sp>
        <p:nvSpPr>
          <p:cNvPr id="5" name="TextBox 4"/>
          <p:cNvSpPr txBox="1"/>
          <p:nvPr/>
        </p:nvSpPr>
        <p:spPr>
          <a:xfrm>
            <a:off x="640080" y="640080"/>
            <a:ext cx="4572000" cy="548640"/>
          </a:xfrm>
          <a:prstGeom prst="rect">
            <a:avLst/>
          </a:prstGeom>
          <a:noFill/>
        </p:spPr>
        <p:txBody>
          <a:bodyPr wrap="square" lIns="0" tIns="0" rIns="0" bIns="0"/>
          <a:lstStyle/>
          <a:p>
            <a:pPr algn="l">
              <a:spcBef>
                <a:spcPts val="0"/>
              </a:spcBef>
              <a:spcAft>
                <a:spcPts val="0"/>
              </a:spcAft>
            </a:pPr>
            <a:r>
              <a:rPr sz="2400" b="1">
                <a:solidFill>
                  <a:srgbClr val="2C5294"/>
                </a:solidFill>
                <a:latin typeface="Georgia"/>
              </a:rPr>
              <a:t>Your Generated Agenda</a:t>
            </a:r>
          </a:p>
        </p:txBody>
      </p:sp>
      <p:pic>
        <p:nvPicPr>
          <p:cNvPr id="7" name="Picture 6" descr="11-d-generated-agenda.jpg"/>
          <p:cNvPicPr>
            <a:picLocks noChangeAspect="1"/>
          </p:cNvPicPr>
          <p:nvPr/>
        </p:nvPicPr>
        <p:blipFill>
          <a:blip r:embed="rId2"/>
          <a:stretch>
            <a:fillRect/>
          </a:stretch>
        </p:blipFill>
        <p:spPr>
          <a:xfrm>
            <a:off x="2920181" y="1300000"/>
            <a:ext cx="8779819" cy="5200000"/>
          </a:xfrm>
          <a:prstGeom prst="rect">
            <a:avLst/>
          </a:prstGeom>
        </p:spPr>
      </p:pic>
      <p:sp>
        <p:nvSpPr>
          <p:cNvPr id="8" name="TextBox 7"/>
          <p:cNvSpPr txBox="1"/>
          <p:nvPr/>
        </p:nvSpPr>
        <p:spPr>
          <a:xfrm>
            <a:off x="10515600" y="6400800"/>
            <a:ext cx="1371600" cy="365760"/>
          </a:xfrm>
          <a:prstGeom prst="rect">
            <a:avLst/>
          </a:prstGeom>
          <a:noFill/>
        </p:spPr>
        <p:txBody>
          <a:bodyPr wrap="square" lIns="0" tIns="0" rIns="0" bIns="0"/>
          <a:lstStyle/>
          <a:p>
            <a:pPr algn="r">
              <a:spcBef>
                <a:spcPts val="0"/>
              </a:spcBef>
              <a:spcAft>
                <a:spcPts val="0"/>
              </a:spcAft>
            </a:pPr>
            <a:r>
              <a:rPr sz="1000" b="0">
                <a:solidFill>
                  <a:srgbClr val="5A7BA8"/>
                </a:solidFill>
                <a:latin typeface="Calibri"/>
              </a:rPr>
              <a:t>19 / 26</a:t>
            </a:r>
          </a:p>
        </p:txBody>
      </p:sp>
      <p:sp>
        <p:nvSpPr>
          <p:cNvPr id="6" name="TextBox 5"/>
          <p:cNvSpPr txBox="1"/>
          <p:nvPr/>
        </p:nvSpPr>
        <p:spPr>
          <a:xfrm>
            <a:off x="634181" y="2084832"/>
            <a:ext cx="4572000" cy="1645920"/>
          </a:xfrm>
          <a:prstGeom prst="rect">
            <a:avLst/>
          </a:prstGeom>
          <a:noFill/>
        </p:spPr>
        <p:txBody>
          <a:bodyPr wrap="square" lIns="0" tIns="0" rIns="0" bIns="0"/>
          <a:lstStyle/>
          <a:p>
            <a:pPr algn="l">
              <a:lnSpc>
                <a:spcPts val="2200"/>
              </a:lnSpc>
              <a:spcBef>
                <a:spcPts val="0"/>
              </a:spcBef>
              <a:spcAft>
                <a:spcPts val="0"/>
              </a:spcAft>
            </a:pPr>
            <a:r>
              <a:rPr sz="1400" b="0" dirty="0">
                <a:solidFill>
                  <a:srgbClr val="2C5294"/>
                </a:solidFill>
                <a:latin typeface="Calibri"/>
              </a:rPr>
              <a:t>Here is an example of the generated meeting agenda document. The agenda pulls speakers, evaluators, Word of the Day, and other details directly from your schedule.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000000" cy="640080"/>
          </a:xfrm>
          <a:prstGeom prst="rect">
            <a:avLst/>
          </a:prstGeom>
          <a:noFill/>
        </p:spPr>
        <p:txBody>
          <a:bodyPr wrap="square">
            <a:spAutoFit/>
          </a:bodyPr>
          <a:lstStyle/>
          <a:p>
            <a:pPr algn="l"/>
            <a:r>
              <a:rPr sz="3600" b="1">
                <a:solidFill>
                  <a:srgbClr val="2C5294"/>
                </a:solidFill>
                <a:latin typeface="Georgia"/>
              </a:rPr>
              <a:t>Draft Club Meeting Email</a:t>
            </a:r>
          </a:p>
        </p:txBody>
      </p:sp>
      <p:sp>
        <p:nvSpPr>
          <p:cNvPr id="4" name="TextBox 3"/>
          <p:cNvSpPr txBox="1"/>
          <p:nvPr/>
        </p:nvSpPr>
        <p:spPr>
          <a:xfrm>
            <a:off x="640080" y="1097280"/>
            <a:ext cx="10000000" cy="365760"/>
          </a:xfrm>
          <a:prstGeom prst="rect">
            <a:avLst/>
          </a:prstGeom>
          <a:noFill/>
        </p:spPr>
        <p:txBody>
          <a:bodyPr wrap="square">
            <a:spAutoFit/>
          </a:bodyPr>
          <a:lstStyle/>
          <a:p>
            <a:pPr algn="l"/>
            <a:r>
              <a:rPr sz="1600" b="0">
                <a:solidFill>
                  <a:srgbClr val="5A7BA8"/>
                </a:solidFill>
                <a:latin typeface="Calibri"/>
              </a:rPr>
              <a:t>Select "Draft Club Meeting Email" from the Toastmasters menu</a:t>
            </a:r>
          </a:p>
        </p:txBody>
      </p:sp>
      <p:pic>
        <p:nvPicPr>
          <p:cNvPr id="5" name="Picture 4" descr="image.jpg"/>
          <p:cNvPicPr>
            <a:picLocks noChangeAspect="1"/>
          </p:cNvPicPr>
          <p:nvPr/>
        </p:nvPicPr>
        <p:blipFill>
          <a:blip r:embed="rId2"/>
          <a:stretch>
            <a:fillRect/>
          </a:stretch>
        </p:blipFill>
        <p:spPr>
          <a:xfrm>
            <a:off x="2300000" y="1600000"/>
            <a:ext cx="7500000" cy="4422170"/>
          </a:xfrm>
          <a:prstGeom prst="rect">
            <a:avLst/>
          </a:prstGeom>
        </p:spPr>
      </p:pic>
      <p:sp>
        <p:nvSpPr>
          <p:cNvPr id="6" name="Rectangle 5"/>
          <p:cNvSpPr/>
          <p:nvPr/>
        </p:nvSpPr>
        <p:spPr>
          <a:xfrm>
            <a:off x="5137500" y="2520766"/>
            <a:ext cx="1862500" cy="258997"/>
          </a:xfrm>
          <a:prstGeom prst="rect">
            <a:avLst/>
          </a:prstGeom>
          <a:noFill/>
          <a:ln w="38100">
            <a:solidFill>
              <a:srgbClr val="E8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20040"/>
            <a:ext cx="4572000" cy="320040"/>
          </a:xfrm>
          <a:prstGeom prst="rect">
            <a:avLst/>
          </a:prstGeom>
          <a:noFill/>
        </p:spPr>
        <p:txBody>
          <a:bodyPr wrap="square" lIns="0" tIns="0" rIns="0" bIns="0"/>
          <a:lstStyle/>
          <a:p>
            <a:pPr algn="l">
              <a:spcBef>
                <a:spcPts val="0"/>
              </a:spcBef>
              <a:spcAft>
                <a:spcPts val="0"/>
              </a:spcAft>
            </a:pPr>
            <a:r>
              <a:rPr sz="1100" b="0">
                <a:solidFill>
                  <a:srgbClr val="5A7BA8"/>
                </a:solidFill>
                <a:latin typeface="Calibri"/>
              </a:rPr>
              <a:t>Club Email</a:t>
            </a:r>
          </a:p>
        </p:txBody>
      </p:sp>
      <p:sp>
        <p:nvSpPr>
          <p:cNvPr id="5" name="TextBox 4"/>
          <p:cNvSpPr txBox="1"/>
          <p:nvPr/>
        </p:nvSpPr>
        <p:spPr>
          <a:xfrm>
            <a:off x="640080" y="640080"/>
            <a:ext cx="4572000" cy="548640"/>
          </a:xfrm>
          <a:prstGeom prst="rect">
            <a:avLst/>
          </a:prstGeom>
          <a:noFill/>
        </p:spPr>
        <p:txBody>
          <a:bodyPr wrap="square" lIns="0" tIns="0" rIns="0" bIns="0"/>
          <a:lstStyle/>
          <a:p>
            <a:pPr algn="l">
              <a:spcBef>
                <a:spcPts val="0"/>
              </a:spcBef>
              <a:spcAft>
                <a:spcPts val="0"/>
              </a:spcAft>
            </a:pPr>
            <a:r>
              <a:rPr sz="2400" b="1">
                <a:solidFill>
                  <a:srgbClr val="2C5294"/>
                </a:solidFill>
                <a:latin typeface="Georgia"/>
              </a:rPr>
              <a:t>Draft Club Meeting Email</a:t>
            </a:r>
          </a:p>
        </p:txBody>
      </p:sp>
      <p:sp>
        <p:nvSpPr>
          <p:cNvPr id="6" name="TextBox 5"/>
          <p:cNvSpPr txBox="1"/>
          <p:nvPr/>
        </p:nvSpPr>
        <p:spPr>
          <a:xfrm>
            <a:off x="640080" y="1371600"/>
            <a:ext cx="4572000" cy="1645920"/>
          </a:xfrm>
          <a:prstGeom prst="rect">
            <a:avLst/>
          </a:prstGeom>
          <a:noFill/>
        </p:spPr>
        <p:txBody>
          <a:bodyPr wrap="square" lIns="0" tIns="0" rIns="0" bIns="0"/>
          <a:lstStyle/>
          <a:p>
            <a:pPr algn="l">
              <a:lnSpc>
                <a:spcPts val="2200"/>
              </a:lnSpc>
              <a:spcBef>
                <a:spcPts val="0"/>
              </a:spcBef>
              <a:spcAft>
                <a:spcPts val="0"/>
              </a:spcAft>
            </a:pPr>
            <a:r>
              <a:rPr sz="1400" b="0">
                <a:solidFill>
                  <a:srgbClr val="2C5294"/>
                </a:solidFill>
                <a:latin typeface="Calibri"/>
              </a:rPr>
              <a:t>Click Toastmasters, then Draft Club Meeting Email. The dialog fields come pre-populated from your earlier choices (theme, Word of the Day, agenda URL, and meeting format from when you ran Role Confirmations or Generate Agenda). You can overwrite any field before drafting. No need to re-enter everything.</a:t>
            </a:r>
          </a:p>
        </p:txBody>
      </p:sp>
      <p:pic>
        <p:nvPicPr>
          <p:cNvPr id="7" name="Picture 6" descr="06-club-email-dialog.jpg"/>
          <p:cNvPicPr>
            <a:picLocks noChangeAspect="1"/>
          </p:cNvPicPr>
          <p:nvPr/>
        </p:nvPicPr>
        <p:blipFill>
          <a:blip r:embed="rId2"/>
          <a:stretch>
            <a:fillRect/>
          </a:stretch>
        </p:blipFill>
        <p:spPr>
          <a:xfrm>
            <a:off x="6065215" y="1543722"/>
            <a:ext cx="5486400" cy="4319195"/>
          </a:xfrm>
          <a:prstGeom prst="rect">
            <a:avLst/>
          </a:prstGeom>
        </p:spPr>
      </p:pic>
      <p:sp>
        <p:nvSpPr>
          <p:cNvPr id="8" name="TextBox 7"/>
          <p:cNvSpPr txBox="1"/>
          <p:nvPr/>
        </p:nvSpPr>
        <p:spPr>
          <a:xfrm>
            <a:off x="10515600" y="6400800"/>
            <a:ext cx="1371600" cy="365760"/>
          </a:xfrm>
          <a:prstGeom prst="rect">
            <a:avLst/>
          </a:prstGeom>
          <a:noFill/>
        </p:spPr>
        <p:txBody>
          <a:bodyPr wrap="square" lIns="0" tIns="0" rIns="0" bIns="0"/>
          <a:lstStyle/>
          <a:p>
            <a:pPr algn="r">
              <a:spcBef>
                <a:spcPts val="0"/>
              </a:spcBef>
              <a:spcAft>
                <a:spcPts val="0"/>
              </a:spcAft>
            </a:pPr>
            <a:r>
              <a:rPr sz="1000" b="0">
                <a:solidFill>
                  <a:srgbClr val="5A7BA8"/>
                </a:solidFill>
                <a:latin typeface="Calibri"/>
              </a:rPr>
              <a:t>21 / 26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20040"/>
            <a:ext cx="4572000" cy="320040"/>
          </a:xfrm>
          <a:prstGeom prst="rect">
            <a:avLst/>
          </a:prstGeom>
          <a:noFill/>
        </p:spPr>
        <p:txBody>
          <a:bodyPr wrap="square" lIns="0" tIns="0" rIns="0" bIns="0"/>
          <a:lstStyle/>
          <a:p>
            <a:pPr algn="l">
              <a:spcBef>
                <a:spcPts val="0"/>
              </a:spcBef>
              <a:spcAft>
                <a:spcPts val="0"/>
              </a:spcAft>
            </a:pPr>
            <a:r>
              <a:rPr sz="1100" b="0">
                <a:solidFill>
                  <a:srgbClr val="5A7BA8"/>
                </a:solidFill>
                <a:latin typeface="Calibri"/>
              </a:rPr>
              <a:t>Club Email</a:t>
            </a:r>
          </a:p>
        </p:txBody>
      </p:sp>
      <p:sp>
        <p:nvSpPr>
          <p:cNvPr id="5" name="TextBox 4"/>
          <p:cNvSpPr txBox="1"/>
          <p:nvPr/>
        </p:nvSpPr>
        <p:spPr>
          <a:xfrm>
            <a:off x="640080" y="640080"/>
            <a:ext cx="4572000" cy="548640"/>
          </a:xfrm>
          <a:prstGeom prst="rect">
            <a:avLst/>
          </a:prstGeom>
          <a:noFill/>
        </p:spPr>
        <p:txBody>
          <a:bodyPr wrap="square" lIns="0" tIns="0" rIns="0" bIns="0"/>
          <a:lstStyle/>
          <a:p>
            <a:pPr algn="l">
              <a:spcBef>
                <a:spcPts val="0"/>
              </a:spcBef>
              <a:spcAft>
                <a:spcPts val="0"/>
              </a:spcAft>
            </a:pPr>
            <a:r>
              <a:rPr sz="2400" b="1">
                <a:solidFill>
                  <a:srgbClr val="2C5294"/>
                </a:solidFill>
                <a:latin typeface="Georgia"/>
              </a:rPr>
              <a:t>Draft Saved to Gmail</a:t>
            </a:r>
          </a:p>
        </p:txBody>
      </p:sp>
      <p:sp>
        <p:nvSpPr>
          <p:cNvPr id="6" name="TextBox 5"/>
          <p:cNvSpPr txBox="1"/>
          <p:nvPr/>
        </p:nvSpPr>
        <p:spPr>
          <a:xfrm>
            <a:off x="640080" y="1371600"/>
            <a:ext cx="4572000" cy="1645920"/>
          </a:xfrm>
          <a:prstGeom prst="rect">
            <a:avLst/>
          </a:prstGeom>
          <a:noFill/>
        </p:spPr>
        <p:txBody>
          <a:bodyPr wrap="square" lIns="0" tIns="0" rIns="0" bIns="0"/>
          <a:lstStyle/>
          <a:p>
            <a:pPr algn="l">
              <a:lnSpc>
                <a:spcPts val="2200"/>
              </a:lnSpc>
              <a:spcBef>
                <a:spcPts val="0"/>
              </a:spcBef>
              <a:spcAft>
                <a:spcPts val="0"/>
              </a:spcAft>
            </a:pPr>
            <a:r>
              <a:rPr sz="1400" b="0">
                <a:solidFill>
                  <a:srgbClr val="2C5294"/>
                </a:solidFill>
                <a:latin typeface="Calibri"/>
              </a:rPr>
              <a:t>After you click Draft Meeting Email, a confirmation dialog appears. Click Open Gmail Drafts to jump straight to your drafts folder and review the email.</a:t>
            </a:r>
          </a:p>
        </p:txBody>
      </p:sp>
      <p:pic>
        <p:nvPicPr>
          <p:cNvPr id="7" name="Picture 6" descr="draft-club-email-box-2.jpg"/>
          <p:cNvPicPr>
            <a:picLocks noChangeAspect="1"/>
          </p:cNvPicPr>
          <p:nvPr/>
        </p:nvPicPr>
        <p:blipFill>
          <a:blip r:embed="rId2"/>
          <a:stretch>
            <a:fillRect/>
          </a:stretch>
        </p:blipFill>
        <p:spPr>
          <a:xfrm>
            <a:off x="6565215" y="2000000"/>
            <a:ext cx="4486400" cy="3500000"/>
          </a:xfrm>
          <a:prstGeom prst="rect">
            <a:avLst/>
          </a:prstGeom>
        </p:spPr>
      </p:pic>
      <p:sp>
        <p:nvSpPr>
          <p:cNvPr id="8" name="TextBox 7"/>
          <p:cNvSpPr txBox="1"/>
          <p:nvPr/>
        </p:nvSpPr>
        <p:spPr>
          <a:xfrm>
            <a:off x="10515600" y="6400800"/>
            <a:ext cx="1371600" cy="365760"/>
          </a:xfrm>
          <a:prstGeom prst="rect">
            <a:avLst/>
          </a:prstGeom>
          <a:noFill/>
        </p:spPr>
        <p:txBody>
          <a:bodyPr wrap="square" lIns="0" tIns="0" rIns="0" bIns="0"/>
          <a:lstStyle/>
          <a:p>
            <a:pPr algn="r">
              <a:spcBef>
                <a:spcPts val="0"/>
              </a:spcBef>
              <a:spcAft>
                <a:spcPts val="0"/>
              </a:spcAft>
            </a:pPr>
            <a:r>
              <a:rPr sz="1000" b="0">
                <a:solidFill>
                  <a:srgbClr val="5A7BA8"/>
                </a:solidFill>
                <a:latin typeface="Calibri"/>
              </a:rPr>
              <a:t>22 / 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20040"/>
            <a:ext cx="4572000" cy="320040"/>
          </a:xfrm>
          <a:prstGeom prst="rect">
            <a:avLst/>
          </a:prstGeom>
          <a:noFill/>
        </p:spPr>
        <p:txBody>
          <a:bodyPr wrap="square" lIns="0" tIns="0" rIns="0" bIns="0"/>
          <a:lstStyle/>
          <a:p>
            <a:pPr algn="l">
              <a:spcBef>
                <a:spcPts val="0"/>
              </a:spcBef>
              <a:spcAft>
                <a:spcPts val="0"/>
              </a:spcAft>
            </a:pPr>
            <a:r>
              <a:rPr sz="1100" b="0">
                <a:solidFill>
                  <a:srgbClr val="5A7BA8"/>
                </a:solidFill>
                <a:latin typeface="Calibri"/>
              </a:rPr>
              <a:t>Club Email</a:t>
            </a:r>
          </a:p>
        </p:txBody>
      </p:sp>
      <p:sp>
        <p:nvSpPr>
          <p:cNvPr id="5" name="TextBox 4"/>
          <p:cNvSpPr txBox="1"/>
          <p:nvPr/>
        </p:nvSpPr>
        <p:spPr>
          <a:xfrm>
            <a:off x="640080" y="640080"/>
            <a:ext cx="4572000" cy="548640"/>
          </a:xfrm>
          <a:prstGeom prst="rect">
            <a:avLst/>
          </a:prstGeom>
          <a:noFill/>
        </p:spPr>
        <p:txBody>
          <a:bodyPr wrap="square" lIns="0" tIns="0" rIns="0" bIns="0"/>
          <a:lstStyle/>
          <a:p>
            <a:pPr algn="l">
              <a:spcBef>
                <a:spcPts val="0"/>
              </a:spcBef>
              <a:spcAft>
                <a:spcPts val="0"/>
              </a:spcAft>
            </a:pPr>
            <a:r>
              <a:rPr sz="2400" b="1">
                <a:solidFill>
                  <a:srgbClr val="2C5294"/>
                </a:solidFill>
                <a:latin typeface="Georgia"/>
              </a:rPr>
              <a:t>Review and Send from Gmail</a:t>
            </a:r>
          </a:p>
        </p:txBody>
      </p:sp>
      <p:sp>
        <p:nvSpPr>
          <p:cNvPr id="6" name="TextBox 5"/>
          <p:cNvSpPr txBox="1"/>
          <p:nvPr/>
        </p:nvSpPr>
        <p:spPr>
          <a:xfrm>
            <a:off x="640080" y="1371600"/>
            <a:ext cx="4572000" cy="1645920"/>
          </a:xfrm>
          <a:prstGeom prst="rect">
            <a:avLst/>
          </a:prstGeom>
          <a:noFill/>
        </p:spPr>
        <p:txBody>
          <a:bodyPr wrap="square" lIns="0" tIns="0" rIns="0" bIns="0"/>
          <a:lstStyle/>
          <a:p>
            <a:pPr algn="l">
              <a:lnSpc>
                <a:spcPts val="2200"/>
              </a:lnSpc>
              <a:spcBef>
                <a:spcPts val="0"/>
              </a:spcBef>
              <a:spcAft>
                <a:spcPts val="0"/>
              </a:spcAft>
            </a:pPr>
            <a:r>
              <a:rPr sz="1400" b="0">
                <a:solidFill>
                  <a:srgbClr val="2C5294"/>
                </a:solidFill>
                <a:latin typeface="Calibri"/>
              </a:rPr>
              <a:t>Click Draft Meeting Email to save the email as a Gmail draft. Open Gmail, find it under Drafts, read it over, and click Send. The macro never sends on its own.</a:t>
            </a:r>
          </a:p>
        </p:txBody>
      </p:sp>
      <p:pic>
        <p:nvPicPr>
          <p:cNvPr id="7" name="Picture 6" descr="Club-Email-Draft.jpg"/>
          <p:cNvPicPr>
            <a:picLocks noChangeAspect="1"/>
          </p:cNvPicPr>
          <p:nvPr/>
        </p:nvPicPr>
        <p:blipFill>
          <a:blip r:embed="rId2"/>
          <a:stretch>
            <a:fillRect/>
          </a:stretch>
        </p:blipFill>
        <p:spPr>
          <a:xfrm>
            <a:off x="5800000" y="1300000"/>
            <a:ext cx="6000000" cy="5200000"/>
          </a:xfrm>
          <a:prstGeom prst="rect">
            <a:avLst/>
          </a:prstGeom>
        </p:spPr>
      </p:pic>
      <p:sp>
        <p:nvSpPr>
          <p:cNvPr id="8" name="TextBox 7"/>
          <p:cNvSpPr txBox="1"/>
          <p:nvPr/>
        </p:nvSpPr>
        <p:spPr>
          <a:xfrm>
            <a:off x="10515600" y="6400800"/>
            <a:ext cx="1371600" cy="365760"/>
          </a:xfrm>
          <a:prstGeom prst="rect">
            <a:avLst/>
          </a:prstGeom>
          <a:noFill/>
        </p:spPr>
        <p:txBody>
          <a:bodyPr wrap="square" lIns="0" tIns="0" rIns="0" bIns="0"/>
          <a:lstStyle/>
          <a:p>
            <a:pPr algn="r">
              <a:spcBef>
                <a:spcPts val="0"/>
              </a:spcBef>
              <a:spcAft>
                <a:spcPts val="0"/>
              </a:spcAft>
            </a:pPr>
            <a:r>
              <a:rPr sz="1000" b="0">
                <a:solidFill>
                  <a:srgbClr val="5A7BA8"/>
                </a:solidFill>
                <a:latin typeface="Calibri"/>
              </a:rPr>
              <a:t>23 / 26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000000" cy="640080"/>
          </a:xfrm>
          <a:prstGeom prst="rect">
            <a:avLst/>
          </a:prstGeom>
          <a:noFill/>
        </p:spPr>
        <p:txBody>
          <a:bodyPr wrap="square">
            <a:spAutoFit/>
          </a:bodyPr>
          <a:lstStyle/>
          <a:p>
            <a:pPr algn="l"/>
            <a:r>
              <a:rPr sz="3600" b="1">
                <a:solidFill>
                  <a:srgbClr val="2C5294"/>
                </a:solidFill>
                <a:latin typeface="Georgia"/>
              </a:rPr>
              <a:t>Appendix</a:t>
            </a:r>
          </a:p>
        </p:txBody>
      </p:sp>
      <p:sp>
        <p:nvSpPr>
          <p:cNvPr id="4" name="TextBox 3"/>
          <p:cNvSpPr txBox="1"/>
          <p:nvPr/>
        </p:nvSpPr>
        <p:spPr>
          <a:xfrm>
            <a:off x="640080" y="1097280"/>
            <a:ext cx="10000000" cy="365760"/>
          </a:xfrm>
          <a:prstGeom prst="rect">
            <a:avLst/>
          </a:prstGeom>
          <a:noFill/>
        </p:spPr>
        <p:txBody>
          <a:bodyPr wrap="square">
            <a:spAutoFit/>
          </a:bodyPr>
          <a:lstStyle/>
          <a:p>
            <a:pPr algn="l"/>
            <a:r>
              <a:rPr sz="1600" b="0">
                <a:solidFill>
                  <a:srgbClr val="5A7BA8"/>
                </a:solidFill>
                <a:latin typeface="Calibri"/>
              </a:rPr>
              <a:t>Additional reference material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20040"/>
            <a:ext cx="4572000" cy="320040"/>
          </a:xfrm>
          <a:prstGeom prst="rect">
            <a:avLst/>
          </a:prstGeom>
          <a:noFill/>
        </p:spPr>
        <p:txBody>
          <a:bodyPr wrap="square" lIns="0" tIns="0" rIns="0" bIns="0"/>
          <a:lstStyle/>
          <a:p>
            <a:pPr algn="l">
              <a:spcBef>
                <a:spcPts val="0"/>
              </a:spcBef>
              <a:spcAft>
                <a:spcPts val="0"/>
              </a:spcAft>
            </a:pPr>
            <a:r>
              <a:rPr sz="1100" b="0">
                <a:solidFill>
                  <a:srgbClr val="5A7BA8"/>
                </a:solidFill>
                <a:latin typeface="Calibri"/>
              </a:rPr>
              <a:t>Reference</a:t>
            </a:r>
          </a:p>
        </p:txBody>
      </p:sp>
      <p:sp>
        <p:nvSpPr>
          <p:cNvPr id="5" name="TextBox 4"/>
          <p:cNvSpPr txBox="1"/>
          <p:nvPr/>
        </p:nvSpPr>
        <p:spPr>
          <a:xfrm>
            <a:off x="640080" y="640080"/>
            <a:ext cx="7315200" cy="548640"/>
          </a:xfrm>
          <a:prstGeom prst="rect">
            <a:avLst/>
          </a:prstGeom>
          <a:noFill/>
        </p:spPr>
        <p:txBody>
          <a:bodyPr wrap="square" lIns="0" tIns="0" rIns="0" bIns="0"/>
          <a:lstStyle/>
          <a:p>
            <a:pPr algn="l">
              <a:spcBef>
                <a:spcPts val="0"/>
              </a:spcBef>
              <a:spcAft>
                <a:spcPts val="0"/>
              </a:spcAft>
            </a:pPr>
            <a:r>
              <a:rPr sz="2800" b="1">
                <a:solidFill>
                  <a:srgbClr val="2C5294"/>
                </a:solidFill>
                <a:latin typeface="Georgia"/>
              </a:rPr>
              <a:t>Understanding the Color Coding</a:t>
            </a:r>
          </a:p>
        </p:txBody>
      </p:sp>
      <p:sp>
        <p:nvSpPr>
          <p:cNvPr id="6" name="Rectangle 5"/>
          <p:cNvSpPr/>
          <p:nvPr/>
        </p:nvSpPr>
        <p:spPr>
          <a:xfrm>
            <a:off x="640080" y="1463040"/>
            <a:ext cx="365760" cy="457200"/>
          </a:xfrm>
          <a:prstGeom prst="rect">
            <a:avLst/>
          </a:prstGeom>
          <a:solidFill>
            <a:srgbClr val="2D8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1463040"/>
            <a:ext cx="1097280" cy="274320"/>
          </a:xfrm>
          <a:prstGeom prst="rect">
            <a:avLst/>
          </a:prstGeom>
          <a:noFill/>
        </p:spPr>
        <p:txBody>
          <a:bodyPr wrap="square" lIns="0" tIns="0" rIns="0" bIns="0"/>
          <a:lstStyle/>
          <a:p>
            <a:pPr algn="l">
              <a:spcBef>
                <a:spcPts val="0"/>
              </a:spcBef>
              <a:spcAft>
                <a:spcPts val="0"/>
              </a:spcAft>
            </a:pPr>
            <a:r>
              <a:rPr sz="1600" b="1">
                <a:solidFill>
                  <a:srgbClr val="2C5294"/>
                </a:solidFill>
                <a:latin typeface="Calibri"/>
              </a:rPr>
              <a:t>Green</a:t>
            </a:r>
          </a:p>
        </p:txBody>
      </p:sp>
      <p:sp>
        <p:nvSpPr>
          <p:cNvPr id="8" name="TextBox 7"/>
          <p:cNvSpPr txBox="1"/>
          <p:nvPr/>
        </p:nvSpPr>
        <p:spPr>
          <a:xfrm>
            <a:off x="1188720" y="1737360"/>
            <a:ext cx="4114800" cy="274320"/>
          </a:xfrm>
          <a:prstGeom prst="rect">
            <a:avLst/>
          </a:prstGeom>
          <a:noFill/>
        </p:spPr>
        <p:txBody>
          <a:bodyPr wrap="square" lIns="0" tIns="0" rIns="0" bIns="0"/>
          <a:lstStyle/>
          <a:p>
            <a:pPr algn="l">
              <a:spcBef>
                <a:spcPts val="0"/>
              </a:spcBef>
              <a:spcAft>
                <a:spcPts val="0"/>
              </a:spcAft>
            </a:pPr>
            <a:r>
              <a:rPr sz="1300" b="0">
                <a:solidFill>
                  <a:srgbClr val="5A7BA8"/>
                </a:solidFill>
                <a:latin typeface="Calibri"/>
              </a:rPr>
              <a:t>The member has confirmed their role.</a:t>
            </a:r>
          </a:p>
        </p:txBody>
      </p:sp>
      <p:sp>
        <p:nvSpPr>
          <p:cNvPr id="9" name="Rectangle 8"/>
          <p:cNvSpPr/>
          <p:nvPr/>
        </p:nvSpPr>
        <p:spPr>
          <a:xfrm>
            <a:off x="640080" y="2286000"/>
            <a:ext cx="365760" cy="457200"/>
          </a:xfrm>
          <a:prstGeom prst="rect">
            <a:avLst/>
          </a:prstGeom>
          <a:solidFill>
            <a:srgbClr val="6AA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88720" y="2286000"/>
            <a:ext cx="1097280" cy="274320"/>
          </a:xfrm>
          <a:prstGeom prst="rect">
            <a:avLst/>
          </a:prstGeom>
          <a:noFill/>
        </p:spPr>
        <p:txBody>
          <a:bodyPr wrap="square" lIns="0" tIns="0" rIns="0" bIns="0"/>
          <a:lstStyle/>
          <a:p>
            <a:pPr algn="l">
              <a:spcBef>
                <a:spcPts val="0"/>
              </a:spcBef>
              <a:spcAft>
                <a:spcPts val="0"/>
              </a:spcAft>
            </a:pPr>
            <a:r>
              <a:rPr sz="1600" b="1">
                <a:solidFill>
                  <a:srgbClr val="2C5294"/>
                </a:solidFill>
                <a:latin typeface="Calibri"/>
              </a:rPr>
              <a:t>Yellow</a:t>
            </a:r>
          </a:p>
        </p:txBody>
      </p:sp>
      <p:sp>
        <p:nvSpPr>
          <p:cNvPr id="11" name="TextBox 10"/>
          <p:cNvSpPr txBox="1"/>
          <p:nvPr/>
        </p:nvSpPr>
        <p:spPr>
          <a:xfrm>
            <a:off x="1188720" y="2560320"/>
            <a:ext cx="4114800" cy="274320"/>
          </a:xfrm>
          <a:prstGeom prst="rect">
            <a:avLst/>
          </a:prstGeom>
          <a:noFill/>
        </p:spPr>
        <p:txBody>
          <a:bodyPr wrap="square" lIns="0" tIns="0" rIns="0" bIns="0"/>
          <a:lstStyle/>
          <a:p>
            <a:pPr algn="l">
              <a:spcBef>
                <a:spcPts val="0"/>
              </a:spcBef>
              <a:spcAft>
                <a:spcPts val="0"/>
              </a:spcAft>
            </a:pPr>
            <a:r>
              <a:rPr sz="1300" b="0">
                <a:solidFill>
                  <a:srgbClr val="5A7BA8"/>
                </a:solidFill>
                <a:latin typeface="Calibri"/>
              </a:rPr>
              <a:t>The member has been contacted but has not replied yet.</a:t>
            </a:r>
          </a:p>
        </p:txBody>
      </p:sp>
      <p:sp>
        <p:nvSpPr>
          <p:cNvPr id="12" name="Rectangle 11"/>
          <p:cNvSpPr/>
          <p:nvPr/>
        </p:nvSpPr>
        <p:spPr>
          <a:xfrm>
            <a:off x="640080" y="3108960"/>
            <a:ext cx="365760"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88720" y="3108960"/>
            <a:ext cx="1097280" cy="274320"/>
          </a:xfrm>
          <a:prstGeom prst="rect">
            <a:avLst/>
          </a:prstGeom>
          <a:noFill/>
        </p:spPr>
        <p:txBody>
          <a:bodyPr wrap="square" lIns="0" tIns="0" rIns="0" bIns="0"/>
          <a:lstStyle/>
          <a:p>
            <a:pPr algn="l">
              <a:spcBef>
                <a:spcPts val="0"/>
              </a:spcBef>
              <a:spcAft>
                <a:spcPts val="0"/>
              </a:spcAft>
            </a:pPr>
            <a:r>
              <a:rPr sz="1600" b="1">
                <a:solidFill>
                  <a:srgbClr val="2C5294"/>
                </a:solidFill>
                <a:latin typeface="Calibri"/>
              </a:rPr>
              <a:t>Red</a:t>
            </a:r>
          </a:p>
        </p:txBody>
      </p:sp>
      <p:sp>
        <p:nvSpPr>
          <p:cNvPr id="14" name="TextBox 13"/>
          <p:cNvSpPr txBox="1"/>
          <p:nvPr/>
        </p:nvSpPr>
        <p:spPr>
          <a:xfrm>
            <a:off x="1188720" y="3383280"/>
            <a:ext cx="4114800" cy="274320"/>
          </a:xfrm>
          <a:prstGeom prst="rect">
            <a:avLst/>
          </a:prstGeom>
          <a:noFill/>
        </p:spPr>
        <p:txBody>
          <a:bodyPr wrap="square" lIns="0" tIns="0" rIns="0" bIns="0"/>
          <a:lstStyle/>
          <a:p>
            <a:pPr algn="l">
              <a:spcBef>
                <a:spcPts val="0"/>
              </a:spcBef>
              <a:spcAft>
                <a:spcPts val="0"/>
              </a:spcAft>
            </a:pPr>
            <a:r>
              <a:rPr sz="1300" b="0">
                <a:solidFill>
                  <a:srgbClr val="5A7BA8"/>
                </a:solidFill>
                <a:latin typeface="Calibri"/>
              </a:rPr>
              <a:t>This role needs reassignment.</a:t>
            </a:r>
          </a:p>
        </p:txBody>
      </p:sp>
      <p:pic>
        <p:nvPicPr>
          <p:cNvPr id="15" name="Picture 14" descr="07-schedule-grid.jpg"/>
          <p:cNvPicPr>
            <a:picLocks noChangeAspect="1"/>
          </p:cNvPicPr>
          <p:nvPr/>
        </p:nvPicPr>
        <p:blipFill>
          <a:blip r:embed="rId2"/>
          <a:stretch>
            <a:fillRect/>
          </a:stretch>
        </p:blipFill>
        <p:spPr>
          <a:xfrm>
            <a:off x="5790895" y="1371600"/>
            <a:ext cx="5943600" cy="2279605"/>
          </a:xfrm>
          <a:prstGeom prst="rect">
            <a:avLst/>
          </a:prstGeom>
        </p:spPr>
      </p:pic>
      <p:sp>
        <p:nvSpPr>
          <p:cNvPr id="16" name="TextBox 15"/>
          <p:cNvSpPr txBox="1"/>
          <p:nvPr/>
        </p:nvSpPr>
        <p:spPr>
          <a:xfrm>
            <a:off x="640080" y="4114800"/>
            <a:ext cx="5029200" cy="457200"/>
          </a:xfrm>
          <a:prstGeom prst="rect">
            <a:avLst/>
          </a:prstGeom>
          <a:noFill/>
        </p:spPr>
        <p:txBody>
          <a:bodyPr wrap="square" lIns="0" tIns="0" rIns="0" bIns="0"/>
          <a:lstStyle/>
          <a:p>
            <a:pPr algn="l">
              <a:spcBef>
                <a:spcPts val="0"/>
              </a:spcBef>
              <a:spcAft>
                <a:spcPts val="0"/>
              </a:spcAft>
            </a:pPr>
            <a:r>
              <a:rPr sz="1300" b="0">
                <a:solidFill>
                  <a:srgbClr val="5A7BA8"/>
                </a:solidFill>
                <a:latin typeface="Calibri"/>
              </a:rPr>
              <a:t>Colors update automatically when you run Start Role Confirmations.</a:t>
            </a:r>
          </a:p>
        </p:txBody>
      </p:sp>
      <p:sp>
        <p:nvSpPr>
          <p:cNvPr id="17" name="TextBox 16"/>
          <p:cNvSpPr txBox="1"/>
          <p:nvPr/>
        </p:nvSpPr>
        <p:spPr>
          <a:xfrm>
            <a:off x="10515600" y="6400800"/>
            <a:ext cx="1371600" cy="365760"/>
          </a:xfrm>
          <a:prstGeom prst="rect">
            <a:avLst/>
          </a:prstGeom>
          <a:noFill/>
        </p:spPr>
        <p:txBody>
          <a:bodyPr wrap="square" lIns="0" tIns="0" rIns="0" bIns="0"/>
          <a:lstStyle/>
          <a:p>
            <a:pPr algn="r">
              <a:spcBef>
                <a:spcPts val="0"/>
              </a:spcBef>
              <a:spcAft>
                <a:spcPts val="0"/>
              </a:spcAft>
            </a:pPr>
            <a:r>
              <a:rPr sz="1000" b="0">
                <a:solidFill>
                  <a:srgbClr val="5A7BA8"/>
                </a:solidFill>
                <a:latin typeface="Calibri"/>
              </a:rPr>
              <a:t>25 / 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5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1371600"/>
            <a:ext cx="1828800" cy="45720"/>
          </a:xfrm>
          <a:prstGeom prst="rect">
            <a:avLst/>
          </a:prstGeom>
          <a:solidFill>
            <a:srgbClr val="93C4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554480"/>
            <a:ext cx="9144000" cy="640080"/>
          </a:xfrm>
          <a:prstGeom prst="rect">
            <a:avLst/>
          </a:prstGeom>
          <a:noFill/>
        </p:spPr>
        <p:txBody>
          <a:bodyPr wrap="square" lIns="0" tIns="0" rIns="0" bIns="0"/>
          <a:lstStyle/>
          <a:p>
            <a:pPr algn="l">
              <a:spcBef>
                <a:spcPts val="0"/>
              </a:spcBef>
              <a:spcAft>
                <a:spcPts val="0"/>
              </a:spcAft>
            </a:pPr>
            <a:r>
              <a:rPr sz="3600" b="1">
                <a:solidFill>
                  <a:srgbClr val="FFFFFF"/>
                </a:solidFill>
                <a:latin typeface="Georgia"/>
              </a:rPr>
              <a:t>Tips and Reminders</a:t>
            </a:r>
          </a:p>
        </p:txBody>
      </p:sp>
      <p:sp>
        <p:nvSpPr>
          <p:cNvPr id="5" name="Oval 4"/>
          <p:cNvSpPr/>
          <p:nvPr/>
        </p:nvSpPr>
        <p:spPr>
          <a:xfrm>
            <a:off x="822960" y="2441448"/>
            <a:ext cx="109728" cy="109728"/>
          </a:xfrm>
          <a:prstGeom prst="ellipse">
            <a:avLst/>
          </a:prstGeom>
          <a:solidFill>
            <a:srgbClr val="93C4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2377440"/>
            <a:ext cx="9601200" cy="594360"/>
          </a:xfrm>
          <a:prstGeom prst="rect">
            <a:avLst/>
          </a:prstGeom>
          <a:noFill/>
        </p:spPr>
        <p:txBody>
          <a:bodyPr wrap="square" lIns="0" tIns="0" rIns="0" bIns="0"/>
          <a:lstStyle/>
          <a:p>
            <a:pPr algn="l">
              <a:lnSpc>
                <a:spcPts val="2000"/>
              </a:lnSpc>
              <a:spcBef>
                <a:spcPts val="0"/>
              </a:spcBef>
              <a:spcAft>
                <a:spcPts val="0"/>
              </a:spcAft>
            </a:pPr>
            <a:r>
              <a:rPr sz="1400" b="0">
                <a:solidFill>
                  <a:srgbClr val="B8D4A8"/>
                </a:solidFill>
                <a:latin typeface="Calibri"/>
              </a:rPr>
              <a:t>Always review drafts before sending. The macros create Gmail drafts, never send directly.</a:t>
            </a:r>
          </a:p>
        </p:txBody>
      </p:sp>
      <p:sp>
        <p:nvSpPr>
          <p:cNvPr id="7" name="Oval 6"/>
          <p:cNvSpPr/>
          <p:nvPr/>
        </p:nvSpPr>
        <p:spPr>
          <a:xfrm>
            <a:off x="822960" y="3099816"/>
            <a:ext cx="109728" cy="109728"/>
          </a:xfrm>
          <a:prstGeom prst="ellipse">
            <a:avLst/>
          </a:prstGeom>
          <a:solidFill>
            <a:srgbClr val="93C4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88720" y="3035808"/>
            <a:ext cx="9601200" cy="594360"/>
          </a:xfrm>
          <a:prstGeom prst="rect">
            <a:avLst/>
          </a:prstGeom>
          <a:noFill/>
        </p:spPr>
        <p:txBody>
          <a:bodyPr wrap="square" lIns="0" tIns="0" rIns="0" bIns="0"/>
          <a:lstStyle/>
          <a:p>
            <a:pPr algn="l">
              <a:lnSpc>
                <a:spcPts val="2000"/>
              </a:lnSpc>
              <a:spcBef>
                <a:spcPts val="0"/>
              </a:spcBef>
              <a:spcAft>
                <a:spcPts val="0"/>
              </a:spcAft>
            </a:pPr>
            <a:r>
              <a:rPr sz="1400" b="0">
                <a:solidFill>
                  <a:srgbClr val="B8D4A8"/>
                </a:solidFill>
                <a:latin typeface="Calibri"/>
              </a:rPr>
              <a:t>Run confirmations early in the week. This gives members time to reply and lets you handle swaps before the meeting.</a:t>
            </a:r>
          </a:p>
        </p:txBody>
      </p:sp>
      <p:sp>
        <p:nvSpPr>
          <p:cNvPr id="9" name="Oval 8"/>
          <p:cNvSpPr/>
          <p:nvPr/>
        </p:nvSpPr>
        <p:spPr>
          <a:xfrm>
            <a:off x="822960" y="3758184"/>
            <a:ext cx="109728" cy="109728"/>
          </a:xfrm>
          <a:prstGeom prst="ellipse">
            <a:avLst/>
          </a:prstGeom>
          <a:solidFill>
            <a:srgbClr val="93C4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88720" y="3694176"/>
            <a:ext cx="9601200" cy="594360"/>
          </a:xfrm>
          <a:prstGeom prst="rect">
            <a:avLst/>
          </a:prstGeom>
          <a:noFill/>
        </p:spPr>
        <p:txBody>
          <a:bodyPr wrap="square" lIns="0" tIns="0" rIns="0" bIns="0"/>
          <a:lstStyle/>
          <a:p>
            <a:pPr algn="l">
              <a:lnSpc>
                <a:spcPts val="2000"/>
              </a:lnSpc>
              <a:spcBef>
                <a:spcPts val="0"/>
              </a:spcBef>
              <a:spcAft>
                <a:spcPts val="0"/>
              </a:spcAft>
            </a:pPr>
            <a:r>
              <a:rPr sz="1400" b="0">
                <a:solidFill>
                  <a:srgbClr val="B8D4A8"/>
                </a:solidFill>
                <a:latin typeface="Calibri"/>
              </a:rPr>
              <a:t>Generate the agenda before drafting the club email. The agenda URL can be auto-filled into the email form.</a:t>
            </a:r>
          </a:p>
        </p:txBody>
      </p:sp>
      <p:sp>
        <p:nvSpPr>
          <p:cNvPr id="11" name="Oval 10"/>
          <p:cNvSpPr/>
          <p:nvPr/>
        </p:nvSpPr>
        <p:spPr>
          <a:xfrm>
            <a:off x="822960" y="4416552"/>
            <a:ext cx="109728" cy="109728"/>
          </a:xfrm>
          <a:prstGeom prst="ellipse">
            <a:avLst/>
          </a:prstGeom>
          <a:solidFill>
            <a:srgbClr val="93C4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88720" y="4352544"/>
            <a:ext cx="9601200" cy="594360"/>
          </a:xfrm>
          <a:prstGeom prst="rect">
            <a:avLst/>
          </a:prstGeom>
          <a:noFill/>
        </p:spPr>
        <p:txBody>
          <a:bodyPr wrap="square" lIns="0" tIns="0" rIns="0" bIns="0"/>
          <a:lstStyle/>
          <a:p>
            <a:pPr algn="l">
              <a:lnSpc>
                <a:spcPts val="2000"/>
              </a:lnSpc>
              <a:spcBef>
                <a:spcPts val="0"/>
              </a:spcBef>
              <a:spcAft>
                <a:spcPts val="0"/>
              </a:spcAft>
            </a:pPr>
            <a:r>
              <a:rPr sz="1400" b="0">
                <a:solidFill>
                  <a:srgbClr val="B8D4A8"/>
                </a:solidFill>
                <a:latin typeface="Calibri"/>
              </a:rPr>
              <a:t>Re-run Role Confirmations as needed. It only emails people who have not already been contacted.</a:t>
            </a:r>
          </a:p>
        </p:txBody>
      </p:sp>
      <p:sp>
        <p:nvSpPr>
          <p:cNvPr id="13" name="Oval 12"/>
          <p:cNvSpPr/>
          <p:nvPr/>
        </p:nvSpPr>
        <p:spPr>
          <a:xfrm>
            <a:off x="822960" y="5074920"/>
            <a:ext cx="109728" cy="109728"/>
          </a:xfrm>
          <a:prstGeom prst="ellipse">
            <a:avLst/>
          </a:prstGeom>
          <a:solidFill>
            <a:srgbClr val="93C4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88720" y="5010912"/>
            <a:ext cx="9601200" cy="594360"/>
          </a:xfrm>
          <a:prstGeom prst="rect">
            <a:avLst/>
          </a:prstGeom>
          <a:noFill/>
        </p:spPr>
        <p:txBody>
          <a:bodyPr wrap="square" lIns="0" tIns="0" rIns="0" bIns="0"/>
          <a:lstStyle/>
          <a:p>
            <a:pPr algn="l">
              <a:lnSpc>
                <a:spcPts val="2000"/>
              </a:lnSpc>
              <a:spcBef>
                <a:spcPts val="0"/>
              </a:spcBef>
              <a:spcAft>
                <a:spcPts val="0"/>
              </a:spcAft>
            </a:pPr>
            <a:r>
              <a:rPr sz="1400" b="0">
                <a:solidFill>
                  <a:srgbClr val="B8D4A8"/>
                </a:solidFill>
                <a:latin typeface="Calibri"/>
              </a:rPr>
              <a:t>If you see a "Running script" banner at the top of the spreadsheet, just wait until it finishes.</a:t>
            </a:r>
          </a:p>
        </p:txBody>
      </p:sp>
      <p:sp>
        <p:nvSpPr>
          <p:cNvPr id="15" name="Oval 14"/>
          <p:cNvSpPr/>
          <p:nvPr/>
        </p:nvSpPr>
        <p:spPr>
          <a:xfrm>
            <a:off x="822960" y="5733287"/>
            <a:ext cx="109728" cy="109728"/>
          </a:xfrm>
          <a:prstGeom prst="ellipse">
            <a:avLst/>
          </a:prstGeom>
          <a:solidFill>
            <a:srgbClr val="93C4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88720" y="5669279"/>
            <a:ext cx="9601200" cy="594360"/>
          </a:xfrm>
          <a:prstGeom prst="rect">
            <a:avLst/>
          </a:prstGeom>
          <a:noFill/>
        </p:spPr>
        <p:txBody>
          <a:bodyPr wrap="square" lIns="0" tIns="0" rIns="0" bIns="0"/>
          <a:lstStyle/>
          <a:p>
            <a:pPr algn="l">
              <a:lnSpc>
                <a:spcPts val="2000"/>
              </a:lnSpc>
              <a:spcBef>
                <a:spcPts val="0"/>
              </a:spcBef>
              <a:spcAft>
                <a:spcPts val="0"/>
              </a:spcAft>
            </a:pPr>
            <a:r>
              <a:rPr sz="1400" b="0">
                <a:solidFill>
                  <a:srgbClr val="B8D4A8"/>
                </a:solidFill>
                <a:latin typeface="Calibri"/>
              </a:rPr>
              <a:t>The Toastmasters menu only appears once the spreadsheet has fully loaded. If you don't see it right away, wait a few seconds.</a:t>
            </a:r>
          </a:p>
        </p:txBody>
      </p:sp>
      <p:sp>
        <p:nvSpPr>
          <p:cNvPr id="17" name="TextBox 16"/>
          <p:cNvSpPr txBox="1"/>
          <p:nvPr/>
        </p:nvSpPr>
        <p:spPr>
          <a:xfrm>
            <a:off x="640080" y="6217920"/>
            <a:ext cx="9144000" cy="365760"/>
          </a:xfrm>
          <a:prstGeom prst="rect">
            <a:avLst/>
          </a:prstGeom>
          <a:noFill/>
        </p:spPr>
        <p:txBody>
          <a:bodyPr wrap="square" lIns="0" tIns="0" rIns="0" bIns="0"/>
          <a:lstStyle/>
          <a:p>
            <a:pPr algn="l">
              <a:spcBef>
                <a:spcPts val="0"/>
              </a:spcBef>
              <a:spcAft>
                <a:spcPts val="0"/>
              </a:spcAft>
            </a:pPr>
            <a:r>
              <a:rPr sz="1200" b="0">
                <a:solidFill>
                  <a:srgbClr val="5A7BA8"/>
                </a:solidFill>
                <a:latin typeface="Calibri"/>
              </a:rPr>
              <a:t>Need help? Ask your VP of Education or the member who set up the spreadsheet.</a:t>
            </a:r>
          </a:p>
        </p:txBody>
      </p:sp>
      <p:sp>
        <p:nvSpPr>
          <p:cNvPr id="18" name="TextBox 17"/>
          <p:cNvSpPr txBox="1"/>
          <p:nvPr/>
        </p:nvSpPr>
        <p:spPr>
          <a:xfrm>
            <a:off x="10515600" y="6400800"/>
            <a:ext cx="1371600" cy="365760"/>
          </a:xfrm>
          <a:prstGeom prst="rect">
            <a:avLst/>
          </a:prstGeom>
          <a:noFill/>
        </p:spPr>
        <p:txBody>
          <a:bodyPr wrap="square" lIns="0" tIns="0" rIns="0" bIns="0"/>
          <a:lstStyle/>
          <a:p>
            <a:pPr algn="r">
              <a:spcBef>
                <a:spcPts val="0"/>
              </a:spcBef>
              <a:spcAft>
                <a:spcPts val="0"/>
              </a:spcAft>
            </a:pPr>
            <a:r>
              <a:rPr sz="1000" b="0">
                <a:solidFill>
                  <a:srgbClr val="5A7BA8"/>
                </a:solidFill>
                <a:latin typeface="Calibri"/>
              </a:rPr>
              <a:t>26 / 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1095</Words>
  <Application>Microsoft Office PowerPoint</Application>
  <PresentationFormat>Widescreen</PresentationFormat>
  <Paragraphs>129</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Mateusz Rakowski</cp:lastModifiedBy>
  <cp:revision>1</cp:revision>
  <dcterms:created xsi:type="dcterms:W3CDTF">2013-01-27T09:14:16Z</dcterms:created>
  <dcterms:modified xsi:type="dcterms:W3CDTF">2026-04-17T01:34:34Z</dcterms:modified>
  <cp:category/>
</cp:coreProperties>
</file>